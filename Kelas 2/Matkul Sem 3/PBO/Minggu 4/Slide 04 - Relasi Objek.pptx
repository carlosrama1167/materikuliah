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pic>
        <p:nvPicPr>
          <p:cNvPr id="3" name="Picture 2" descr="logo_polin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65760"/>
            <a:ext cx="1178873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F4E79"/>
                </a:solidFill>
              </a:defRPr>
            </a:pPr>
            <a:r>
              <a:t>RELASI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089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02020"/>
                </a:solidFill>
              </a:defRPr>
            </a:pPr>
            <a:r>
              <a:t>Pemrograman Berorientasi Objek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22621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707070"/>
                </a:solidFill>
              </a:defRPr>
            </a:pPr>
            <a:r>
              <a:rPr dirty="0" err="1"/>
              <a:t>Politeknik</a:t>
            </a:r>
            <a:r>
              <a:rPr dirty="0"/>
              <a:t> Negeri Malang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Overview, Agenda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725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Setelah</a:t>
            </a:r>
            <a:r>
              <a:rPr dirty="0"/>
              <a:t> </a:t>
            </a:r>
            <a:r>
              <a:rPr dirty="0" err="1"/>
              <a:t>sesi</a:t>
            </a:r>
            <a:r>
              <a:rPr dirty="0"/>
              <a:t> </a:t>
            </a:r>
            <a:r>
              <a:rPr lang="en-US" dirty="0" err="1"/>
              <a:t>teori</a:t>
            </a:r>
            <a:r>
              <a:rPr lang="en-US" dirty="0"/>
              <a:t> ini</a:t>
            </a:r>
            <a:r>
              <a:rPr dirty="0"/>
              <a:t>,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mampu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Uses-A / Has-A</a:t>
            </a:r>
            <a:r>
              <a:rPr lang="en-US" dirty="0"/>
              <a:t> </a:t>
            </a:r>
            <a:r>
              <a:rPr dirty="0"/>
              <a:t>(Composition &amp; Aggregation), </a:t>
            </a:r>
            <a:r>
              <a:rPr dirty="0" err="1"/>
              <a:t>delegasi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, array of object, dan</a:t>
            </a:r>
            <a:r>
              <a:rPr lang="en-US" dirty="0"/>
              <a:t> </a:t>
            </a:r>
            <a:r>
              <a:rPr dirty="0" err="1"/>
              <a:t>menerapkan</a:t>
            </a:r>
            <a:r>
              <a:rPr dirty="0"/>
              <a:t> defensive programming pada </a:t>
            </a:r>
            <a:r>
              <a:rPr dirty="0" err="1"/>
              <a:t>relasi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class.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b="1" dirty="0"/>
              <a:t>BAGIAN 1</a:t>
            </a:r>
            <a:r>
              <a:rPr dirty="0"/>
              <a:t> — </a:t>
            </a:r>
            <a:r>
              <a:rPr dirty="0" err="1"/>
              <a:t>Konsep</a:t>
            </a:r>
            <a:r>
              <a:rPr dirty="0"/>
              <a:t> &amp; </a:t>
            </a:r>
            <a:r>
              <a:rPr dirty="0" err="1"/>
              <a:t>Fondasi</a:t>
            </a:r>
            <a:r>
              <a:rPr dirty="0"/>
              <a:t> (50 </a:t>
            </a:r>
            <a:r>
              <a:rPr dirty="0" err="1"/>
              <a:t>menit</a:t>
            </a:r>
            <a:r>
              <a:rPr dirty="0"/>
              <a:t>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Relasi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, Tiga Jenis </a:t>
            </a:r>
            <a:r>
              <a:rPr dirty="0" err="1"/>
              <a:t>Relasi</a:t>
            </a:r>
            <a:r>
              <a:rPr dirty="0"/>
              <a:t>, Composition vs Aggregation, Memory Model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b="1" dirty="0"/>
              <a:t>BAGIAN 2</a:t>
            </a:r>
            <a:r>
              <a:rPr dirty="0"/>
              <a:t> — Studi </a:t>
            </a:r>
            <a:r>
              <a:rPr dirty="0" err="1"/>
              <a:t>Kasus</a:t>
            </a:r>
            <a:r>
              <a:rPr dirty="0"/>
              <a:t> / Live Coding (110 </a:t>
            </a:r>
            <a:r>
              <a:rPr dirty="0" err="1"/>
              <a:t>menit</a:t>
            </a:r>
            <a:r>
              <a:rPr dirty="0"/>
              <a:t>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Laptop⟶Processor</a:t>
            </a:r>
            <a:r>
              <a:rPr dirty="0"/>
              <a:t> (+Printer/Uses-A), </a:t>
            </a:r>
            <a:r>
              <a:rPr dirty="0" err="1"/>
              <a:t>Karakter⟶Senjata</a:t>
            </a:r>
            <a:r>
              <a:rPr dirty="0"/>
              <a:t>, </a:t>
            </a:r>
            <a:r>
              <a:rPr dirty="0" err="1"/>
              <a:t>Mahasiswa⟶Jurusan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b="1" dirty="0"/>
              <a:t>BAGIAN 3</a:t>
            </a:r>
            <a:r>
              <a:rPr dirty="0"/>
              <a:t> — Error Handling &amp; Desain (40 </a:t>
            </a:r>
            <a:r>
              <a:rPr dirty="0" err="1"/>
              <a:t>menit</a:t>
            </a:r>
            <a:r>
              <a:rPr dirty="0"/>
              <a:t>)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Pitfalls, Defensive Programming, </a:t>
            </a:r>
            <a:r>
              <a:rPr dirty="0" err="1"/>
              <a:t>Heuristik</a:t>
            </a:r>
            <a:r>
              <a:rPr dirty="0"/>
              <a:t> Desain </a:t>
            </a:r>
            <a:r>
              <a:rPr dirty="0" err="1"/>
              <a:t>Relasi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b="1" dirty="0"/>
              <a:t>PENUTUP</a:t>
            </a:r>
            <a:r>
              <a:rPr dirty="0"/>
              <a:t> — </a:t>
            </a:r>
            <a:r>
              <a:rPr dirty="0" err="1"/>
              <a:t>Ringkasan</a:t>
            </a:r>
            <a:r>
              <a:rPr dirty="0"/>
              <a:t>, Preview </a:t>
            </a:r>
            <a:r>
              <a:rPr dirty="0" err="1"/>
              <a:t>Praktikum</a:t>
            </a:r>
            <a:r>
              <a:rPr dirty="0"/>
              <a:t>, Tanya Jawab (20 </a:t>
            </a:r>
            <a:r>
              <a:rPr dirty="0" err="1"/>
              <a:t>menit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rPr lang="id-ID" dirty="0"/>
              <a:t>Relasi Objek: Konsep Dasar</a:t>
            </a:r>
          </a:p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06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02020"/>
                </a:solidFill>
                <a:latin typeface="Calibri"/>
              </a:defRPr>
            </a:pPr>
            <a:r>
              <a:rPr lang="en-US" dirty="0" err="1"/>
              <a:t>Sejauh</a:t>
            </a:r>
            <a:r>
              <a:rPr lang="en-US" dirty="0"/>
              <a:t> ini,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bertipe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sederhana</a:t>
            </a:r>
            <a:r>
              <a:rPr lang="en-US" dirty="0">
                <a:highlight>
                  <a:srgbClr val="FFFF00"/>
                </a:highlight>
              </a:rPr>
              <a:t> (primitive)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  <a:r>
              <a:rPr lang="en-US" dirty="0"/>
              <a:t>, </a:t>
            </a:r>
            <a:r>
              <a:rPr lang="en-US" sz="1900" dirty="0">
                <a:solidFill>
                  <a:srgbClr val="202020"/>
                </a:solidFill>
                <a:latin typeface="Consolas" panose="020B0609020204030204" pitchFamily="49" charset="0"/>
              </a:rPr>
              <a:t>int</a:t>
            </a:r>
            <a:r>
              <a:rPr lang="en-US" dirty="0"/>
              <a:t>, </a:t>
            </a:r>
            <a:r>
              <a:rPr lang="en-US" sz="1900" dirty="0">
                <a:solidFill>
                  <a:srgbClr val="202020"/>
                </a:solidFill>
                <a:latin typeface="Consolas" panose="020B0609020204030204" pitchFamily="49" charset="0"/>
              </a:rPr>
              <a:t>float</a:t>
            </a:r>
            <a:r>
              <a:rPr lang="en-US" dirty="0"/>
              <a:t> </a:t>
            </a:r>
            <a:r>
              <a:rPr lang="en-US" dirty="0" err="1"/>
              <a:t>dll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02020"/>
                </a:solidFill>
                <a:latin typeface="Calibri"/>
              </a:defRPr>
            </a:pPr>
            <a:r>
              <a:rPr lang="en-US" dirty="0"/>
              <a:t>Class bisa </a:t>
            </a:r>
            <a:r>
              <a:rPr lang="en-US" dirty="0" err="1">
                <a:highlight>
                  <a:srgbClr val="FFFF00"/>
                </a:highlight>
              </a:rPr>
              <a:t>memiliki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atribut</a:t>
            </a:r>
            <a:r>
              <a:rPr lang="en-US" dirty="0">
                <a:highlight>
                  <a:srgbClr val="FFFF00"/>
                </a:highlight>
              </a:rPr>
              <a:t> yang </a:t>
            </a:r>
            <a:r>
              <a:rPr lang="en-US" dirty="0" err="1">
                <a:highlight>
                  <a:srgbClr val="FFFF00"/>
                </a:highlight>
              </a:rPr>
              <a:t>bertipe</a:t>
            </a:r>
            <a:r>
              <a:rPr lang="en-US" dirty="0">
                <a:highlight>
                  <a:srgbClr val="FFFF00"/>
                </a:highlight>
              </a:rPr>
              <a:t> class </a:t>
            </a:r>
            <a:r>
              <a:rPr lang="en-US" dirty="0"/>
              <a:t>lain, dengan kata lain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class lain (</a:t>
            </a:r>
            <a:r>
              <a:rPr lang="en-US" dirty="0" err="1"/>
              <a:t>bertipe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)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02020"/>
                </a:solidFill>
                <a:latin typeface="Calibri"/>
              </a:defRPr>
            </a:pPr>
            <a:r>
              <a:rPr lang="id-ID" sz="1900" dirty="0">
                <a:solidFill>
                  <a:srgbClr val="202020"/>
                </a:solidFill>
                <a:latin typeface="Calibri"/>
              </a:rPr>
              <a:t>Sebuah </a:t>
            </a:r>
            <a:r>
              <a:rPr lang="id-ID" sz="1900" dirty="0">
                <a:solidFill>
                  <a:srgbClr val="20202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Library</a:t>
            </a:r>
            <a:r>
              <a:rPr lang="id-ID" sz="1900" dirty="0">
                <a:solidFill>
                  <a:srgbClr val="202020"/>
                </a:solidFill>
                <a:latin typeface="Calibri"/>
              </a:rPr>
              <a:t> bisa memiliki banyak </a:t>
            </a:r>
            <a:r>
              <a:rPr lang="id-ID" sz="1900" dirty="0">
                <a:solidFill>
                  <a:srgbClr val="20202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Book</a:t>
            </a:r>
            <a:r>
              <a:rPr lang="id-ID" sz="1900" dirty="0">
                <a:solidFill>
                  <a:srgbClr val="202020"/>
                </a:solidFill>
                <a:latin typeface="Calibri"/>
              </a:rPr>
              <a:t> sebagai atributnya, sebuah </a:t>
            </a:r>
            <a:r>
              <a:rPr lang="id-ID" sz="1900" dirty="0">
                <a:solidFill>
                  <a:srgbClr val="20202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Car</a:t>
            </a:r>
            <a:r>
              <a:rPr lang="id-ID" sz="1900" dirty="0">
                <a:solidFill>
                  <a:srgbClr val="202020"/>
                </a:solidFill>
                <a:latin typeface="Calibri"/>
              </a:rPr>
              <a:t> bisa memiliki </a:t>
            </a:r>
            <a:r>
              <a:rPr lang="id-ID" sz="1900" dirty="0">
                <a:solidFill>
                  <a:srgbClr val="20202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Engine</a:t>
            </a:r>
            <a:r>
              <a:rPr lang="id-ID" sz="1900" dirty="0">
                <a:solidFill>
                  <a:srgbClr val="202020"/>
                </a:solidFill>
                <a:latin typeface="Calibri"/>
              </a:rPr>
              <a:t> sebagai atributnya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yang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kompleks</a:t>
            </a:r>
            <a:r>
              <a:rPr dirty="0"/>
              <a:t>,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suatu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ditemukan</a:t>
            </a:r>
            <a:r>
              <a:rPr dirty="0"/>
              <a:t> </a:t>
            </a:r>
            <a:r>
              <a:rPr dirty="0" err="1"/>
              <a:t>lebih</a:t>
            </a:r>
            <a:r>
              <a:rPr lang="en-US"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class yang </a:t>
            </a:r>
            <a:r>
              <a:rPr dirty="0" err="1"/>
              <a:t>saling</a:t>
            </a:r>
            <a:r>
              <a:rPr dirty="0"/>
              <a:t> </a:t>
            </a:r>
            <a:r>
              <a:rPr dirty="0" err="1"/>
              <a:t>memiliki</a:t>
            </a:r>
            <a:r>
              <a:rPr dirty="0"/>
              <a:t> </a:t>
            </a:r>
            <a:r>
              <a:rPr dirty="0" err="1"/>
              <a:t>keterkaitan</a:t>
            </a:r>
            <a:r>
              <a:rPr dirty="0"/>
              <a:t> </a:t>
            </a:r>
            <a:r>
              <a:rPr dirty="0" err="1"/>
              <a:t>antara</a:t>
            </a:r>
            <a:r>
              <a:rPr dirty="0"/>
              <a:t> class </a:t>
            </a:r>
            <a:r>
              <a:rPr dirty="0" err="1"/>
              <a:t>satu</a:t>
            </a:r>
            <a:r>
              <a:rPr dirty="0"/>
              <a:t> dengan</a:t>
            </a:r>
            <a:r>
              <a:rPr lang="en-US" dirty="0"/>
              <a:t> </a:t>
            </a:r>
            <a:r>
              <a:rPr dirty="0"/>
              <a:t>yang lain.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02020"/>
                </a:solidFill>
                <a:latin typeface="Calibri"/>
              </a:defRPr>
            </a:pPr>
            <a:r>
              <a:rPr lang="en-US" dirty="0"/>
              <a:t>Jika pada</a:t>
            </a:r>
            <a:r>
              <a:rPr dirty="0"/>
              <a:t> </a:t>
            </a:r>
            <a:r>
              <a:rPr dirty="0" err="1"/>
              <a:t>percobaan-percobaan</a:t>
            </a:r>
            <a:r>
              <a:rPr dirty="0"/>
              <a:t> </a:t>
            </a:r>
            <a:r>
              <a:rPr dirty="0" err="1"/>
              <a:t>sebelumnya</a:t>
            </a:r>
            <a:r>
              <a:rPr dirty="0"/>
              <a:t>, </a:t>
            </a:r>
            <a:r>
              <a:rPr dirty="0" err="1"/>
              <a:t>mayoritas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yang sudah</a:t>
            </a:r>
            <a:r>
              <a:rPr lang="en-US" dirty="0"/>
              <a:t> </a:t>
            </a:r>
            <a:r>
              <a:rPr dirty="0" err="1"/>
              <a:t>dikerjakan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fokus</a:t>
            </a:r>
            <a:r>
              <a:rPr dirty="0"/>
              <a:t> pada </a:t>
            </a:r>
            <a:r>
              <a:rPr dirty="0" err="1"/>
              <a:t>satu</a:t>
            </a:r>
            <a:r>
              <a:rPr dirty="0"/>
              <a:t> class saja</a:t>
            </a:r>
            <a:r>
              <a:rPr lang="en-US" dirty="0"/>
              <a:t>, p</a:t>
            </a:r>
            <a:r>
              <a:rPr dirty="0"/>
              <a:t>ada </a:t>
            </a:r>
            <a:r>
              <a:rPr dirty="0" err="1"/>
              <a:t>materi</a:t>
            </a:r>
            <a:r>
              <a:rPr dirty="0"/>
              <a:t> ini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dibahas</a:t>
            </a:r>
            <a:r>
              <a:rPr dirty="0"/>
              <a:t> </a:t>
            </a: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yang </a:t>
            </a:r>
            <a:r>
              <a:rPr dirty="0" err="1"/>
              <a:t>melibatkan</a:t>
            </a:r>
            <a:r>
              <a:rPr dirty="0"/>
              <a:t> </a:t>
            </a:r>
            <a:r>
              <a:rPr dirty="0" err="1">
                <a:highlight>
                  <a:srgbClr val="FFFF00"/>
                </a:highlight>
              </a:rPr>
              <a:t>beberapa</a:t>
            </a:r>
            <a:r>
              <a:rPr dirty="0">
                <a:highlight>
                  <a:srgbClr val="FFFF00"/>
                </a:highlight>
              </a:rPr>
              <a:t> class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dirty="0">
                <a:highlight>
                  <a:srgbClr val="FFFF00"/>
                </a:highlight>
              </a:rPr>
              <a:t>yang </a:t>
            </a:r>
            <a:r>
              <a:rPr dirty="0" err="1">
                <a:highlight>
                  <a:srgbClr val="FFFF00"/>
                </a:highlight>
              </a:rPr>
              <a:t>saling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berelasi</a:t>
            </a:r>
            <a:r>
              <a:rPr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rPr dirty="0" err="1"/>
              <a:t>Relasi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: </a:t>
            </a:r>
            <a:r>
              <a:rPr dirty="0" err="1"/>
              <a:t>Konsep</a:t>
            </a:r>
            <a:r>
              <a:rPr dirty="0"/>
              <a:t> Dasar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69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Objek di dunia nyata </a:t>
            </a:r>
            <a:r>
              <a:rPr lang="id-ID" dirty="0">
                <a:highlight>
                  <a:srgbClr val="FFFF00"/>
                </a:highlight>
              </a:rPr>
              <a:t>jarang berdiri sendiri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id-ID" dirty="0"/>
              <a:t> sebuah benda biasanya tersusun dari, atau membutuhkan, benda lain.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Dalam OOP, ini dimodelkan dengan: atribut sebuah class boleh bertipe class lain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id-ID" dirty="0"/>
              <a:t> tidak harus tipe dasar seperti int atau String.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Contoh: 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d-ID" dirty="0"/>
              <a:t>class PesawatTerbang, di dalamnya terdapat object Mesin, Sayap, Sirip, dan Pilot.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</a:t>
            </a:r>
            <a:r>
              <a:rPr lang="id-ID" dirty="0"/>
              <a:t> Laptop yang di dalamnya terdapat Processor.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/>
              <a:t>Supaya sebuah objek bisa </a:t>
            </a:r>
            <a:r>
              <a:rPr lang="id-ID" dirty="0">
                <a:highlight>
                  <a:srgbClr val="FFFF00"/>
                </a:highlight>
              </a:rPr>
              <a:t>"memiliki" </a:t>
            </a:r>
            <a:r>
              <a:rPr lang="id-ID" dirty="0"/>
              <a:t>objek lain, objek yang dimiliki itu harus sudah dibuat lebih dulu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id-ID" dirty="0"/>
              <a:t> baru kemudian dikaitkan/dipasangkan (nanti dilihat caranya lewat </a:t>
            </a:r>
            <a:r>
              <a:rPr lang="id-ID" i="1" dirty="0"/>
              <a:t>constructor</a:t>
            </a:r>
            <a:r>
              <a:rPr lang="id-ID" dirty="0"/>
              <a:t> atau </a:t>
            </a:r>
            <a:r>
              <a:rPr lang="id-ID" i="1" dirty="0"/>
              <a:t>setter</a:t>
            </a:r>
            <a:r>
              <a:rPr lang="id-ID" dirty="0"/>
              <a:t>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r>
              <a:rPr dirty="0"/>
              <a:t>➜ </a:t>
            </a:r>
            <a:r>
              <a:rPr lang="en-US" dirty="0" err="1"/>
              <a:t>Konsep</a:t>
            </a:r>
            <a:r>
              <a:rPr lang="en-US" dirty="0"/>
              <a:t> ini yang </a:t>
            </a:r>
            <a:r>
              <a:rPr lang="en-US" dirty="0" err="1"/>
              <a:t>selanjutnya</a:t>
            </a:r>
            <a:r>
              <a:rPr dirty="0"/>
              <a:t> </a:t>
            </a:r>
            <a:r>
              <a:rPr dirty="0" err="1"/>
              <a:t>disebut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HAS-A: </a:t>
            </a:r>
            <a:r>
              <a:rPr dirty="0" err="1"/>
              <a:t>sebuah</a:t>
            </a:r>
            <a:r>
              <a:rPr dirty="0"/>
              <a:t> class "</a:t>
            </a:r>
            <a:r>
              <a:rPr dirty="0" err="1"/>
              <a:t>memiliki</a:t>
            </a:r>
            <a:r>
              <a:rPr dirty="0"/>
              <a:t>" object </a:t>
            </a:r>
            <a:r>
              <a:rPr dirty="0" err="1"/>
              <a:t>dar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dirty="0"/>
              <a:t>class lain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atributnya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Mengapa Relasi Objek Penting?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7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r>
              <a:rPr dirty="0"/>
              <a:t>❌ 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yang </a:t>
            </a:r>
            <a:r>
              <a:rPr dirty="0" err="1"/>
              <a:t>baik</a:t>
            </a:r>
            <a:r>
              <a:rPr dirty="0"/>
              <a:t>:</a:t>
            </a:r>
          </a:p>
          <a:p>
            <a:pPr marL="1200150" lvl="2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atribut</a:t>
            </a:r>
            <a:r>
              <a:rPr dirty="0"/>
              <a:t> </a:t>
            </a:r>
            <a:r>
              <a:rPr dirty="0" err="1"/>
              <a:t>ditumpuk</a:t>
            </a:r>
            <a:r>
              <a:rPr dirty="0"/>
              <a:t> di </a:t>
            </a:r>
            <a:r>
              <a:rPr dirty="0" err="1"/>
              <a:t>satu</a:t>
            </a:r>
            <a:r>
              <a:rPr dirty="0"/>
              <a:t> class → </a:t>
            </a:r>
            <a:r>
              <a:rPr dirty="0" err="1"/>
              <a:t>sulit</a:t>
            </a:r>
            <a:r>
              <a:rPr dirty="0"/>
              <a:t> </a:t>
            </a:r>
            <a:r>
              <a:rPr dirty="0" err="1"/>
              <a:t>dipelihara</a:t>
            </a:r>
            <a:endParaRPr dirty="0"/>
          </a:p>
          <a:p>
            <a:pPr marL="1200150" lvl="2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Struktur</a:t>
            </a:r>
            <a:r>
              <a:rPr dirty="0"/>
              <a:t> data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jelas</a:t>
            </a:r>
            <a:r>
              <a:rPr dirty="0"/>
              <a:t> → </a:t>
            </a:r>
            <a:r>
              <a:rPr dirty="0" err="1"/>
              <a:t>sulit</a:t>
            </a:r>
            <a:r>
              <a:rPr dirty="0"/>
              <a:t> </a:t>
            </a:r>
            <a:r>
              <a:rPr dirty="0" err="1"/>
              <a:t>dikembangkan</a:t>
            </a:r>
            <a:r>
              <a:rPr dirty="0"/>
              <a:t> </a:t>
            </a:r>
            <a:r>
              <a:rPr dirty="0" err="1"/>
              <a:t>tim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r>
              <a:rPr dirty="0"/>
              <a:t>✓  Dengan </a:t>
            </a:r>
            <a:r>
              <a:rPr dirty="0" err="1"/>
              <a:t>desain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yang </a:t>
            </a:r>
            <a:r>
              <a:rPr dirty="0" err="1"/>
              <a:t>baik</a:t>
            </a:r>
            <a:r>
              <a:rPr dirty="0"/>
              <a:t>:</a:t>
            </a:r>
          </a:p>
          <a:p>
            <a:pPr marL="1200150" lvl="2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Setiap</a:t>
            </a:r>
            <a:r>
              <a:rPr dirty="0"/>
              <a:t> class punya </a:t>
            </a:r>
            <a:r>
              <a:rPr dirty="0" err="1"/>
              <a:t>tanggung</a:t>
            </a:r>
            <a:r>
              <a:rPr dirty="0"/>
              <a:t> </a:t>
            </a:r>
            <a:r>
              <a:rPr dirty="0" err="1"/>
              <a:t>jawab</a:t>
            </a:r>
            <a:r>
              <a:rPr dirty="0"/>
              <a:t> </a:t>
            </a:r>
            <a:r>
              <a:rPr dirty="0" err="1"/>
              <a:t>spesifik</a:t>
            </a:r>
            <a:r>
              <a:rPr dirty="0"/>
              <a:t> (single responsibility)</a:t>
            </a:r>
          </a:p>
          <a:p>
            <a:pPr marL="1200150" lvl="2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Kode </a:t>
            </a:r>
            <a:r>
              <a:rPr dirty="0" err="1"/>
              <a:t>lebih</a:t>
            </a:r>
            <a:r>
              <a:rPr dirty="0"/>
              <a:t> reusable,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diuji</a:t>
            </a:r>
            <a:r>
              <a:rPr dirty="0"/>
              <a:t>, dan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dikembangkan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r>
              <a:rPr dirty="0" err="1">
                <a:highlight>
                  <a:srgbClr val="FFFF00"/>
                </a:highlight>
              </a:rPr>
              <a:t>Relasi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antar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objek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fondasi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>
                <a:highlight>
                  <a:srgbClr val="FFFF00"/>
                </a:highlight>
              </a:rPr>
              <a:t>desain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sistem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berorientasi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objek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dirty="0"/>
              <a:t>yang </a:t>
            </a:r>
            <a:r>
              <a:rPr dirty="0" err="1"/>
              <a:t>baik</a:t>
            </a:r>
            <a:r>
              <a:rPr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dipakai</a:t>
            </a:r>
            <a:r>
              <a:rPr dirty="0"/>
              <a:t> di </a:t>
            </a:r>
            <a:r>
              <a:rPr dirty="0" err="1"/>
              <a:t>hampir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Tiga Jenis Relasi Antar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11535" cy="3424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1. </a:t>
            </a:r>
            <a:r>
              <a:rPr dirty="0">
                <a:highlight>
                  <a:srgbClr val="FFFF00"/>
                </a:highlight>
              </a:rPr>
              <a:t>USES-A</a:t>
            </a:r>
            <a:r>
              <a:rPr dirty="0"/>
              <a:t> (</a:t>
            </a:r>
            <a:r>
              <a:rPr i="1" dirty="0"/>
              <a:t>Dependency</a:t>
            </a:r>
            <a:r>
              <a:rPr dirty="0"/>
              <a:t>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</a:t>
            </a:r>
            <a:r>
              <a:rPr dirty="0" err="1"/>
              <a:t>sementara</a:t>
            </a:r>
            <a:r>
              <a:rPr dirty="0"/>
              <a:t>/</a:t>
            </a:r>
            <a:r>
              <a:rPr dirty="0" err="1"/>
              <a:t>lemah</a:t>
            </a:r>
            <a:endParaRPr dirty="0"/>
          </a:p>
          <a:p>
            <a:pPr marL="1200150" lvl="2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/>
              <a:t>Object lain </a:t>
            </a:r>
            <a:r>
              <a:rPr sz="1400" dirty="0" err="1"/>
              <a:t>hanya</a:t>
            </a:r>
            <a:r>
              <a:rPr sz="1400" dirty="0"/>
              <a:t> </a:t>
            </a:r>
            <a:r>
              <a:rPr sz="1400" dirty="0" err="1"/>
              <a:t>dipakai</a:t>
            </a:r>
            <a:r>
              <a:rPr sz="1400" dirty="0"/>
              <a:t> </a:t>
            </a:r>
            <a:r>
              <a:rPr sz="1400" dirty="0" err="1"/>
              <a:t>sesaat</a:t>
            </a:r>
            <a:r>
              <a:rPr sz="1400" dirty="0"/>
              <a:t>, </a:t>
            </a:r>
            <a:r>
              <a:rPr sz="1400" dirty="0">
                <a:highlight>
                  <a:srgbClr val="FFFF00"/>
                </a:highlight>
              </a:rPr>
              <a:t>TIDAK </a:t>
            </a:r>
            <a:r>
              <a:rPr sz="1400" dirty="0" err="1">
                <a:highlight>
                  <a:srgbClr val="FFFF00"/>
                </a:highlight>
              </a:rPr>
              <a:t>disimpan</a:t>
            </a:r>
            <a:r>
              <a:rPr sz="1400" dirty="0">
                <a:highlight>
                  <a:srgbClr val="FFFF00"/>
                </a:highlight>
              </a:rPr>
              <a:t> </a:t>
            </a:r>
            <a:r>
              <a:rPr sz="1400" dirty="0" err="1">
                <a:highlight>
                  <a:srgbClr val="FFFF00"/>
                </a:highlight>
              </a:rPr>
              <a:t>sebagai</a:t>
            </a:r>
            <a:r>
              <a:rPr sz="1400" dirty="0">
                <a:highlight>
                  <a:srgbClr val="FFFF00"/>
                </a:highlight>
              </a:rPr>
              <a:t> </a:t>
            </a:r>
            <a:r>
              <a:rPr sz="1400" dirty="0" err="1">
                <a:highlight>
                  <a:srgbClr val="FFFF00"/>
                </a:highlight>
              </a:rPr>
              <a:t>atribut</a:t>
            </a:r>
            <a:endParaRPr sz="1400" dirty="0">
              <a:highlight>
                <a:srgbClr val="FFFF00"/>
              </a:highlight>
            </a:endParaRPr>
          </a:p>
          <a:p>
            <a:pPr marL="1200150" lvl="2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 err="1"/>
              <a:t>Contoh</a:t>
            </a:r>
            <a:r>
              <a:rPr sz="1400" dirty="0"/>
              <a:t>: method </a:t>
            </a:r>
            <a:r>
              <a:rPr sz="1400" dirty="0" err="1">
                <a:latin typeface="Consolas" panose="020B0609020204030204" pitchFamily="49" charset="0"/>
              </a:rPr>
              <a:t>Driver.mengemudikan</a:t>
            </a:r>
            <a:r>
              <a:rPr sz="1400" dirty="0">
                <a:latin typeface="Consolas" panose="020B0609020204030204" pitchFamily="49" charset="0"/>
              </a:rPr>
              <a:t>(Mobil m)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2. </a:t>
            </a:r>
            <a:r>
              <a:rPr dirty="0">
                <a:highlight>
                  <a:srgbClr val="FFFF00"/>
                </a:highlight>
              </a:rPr>
              <a:t>HAS-A </a:t>
            </a:r>
            <a:r>
              <a:rPr dirty="0"/>
              <a:t>(</a:t>
            </a:r>
            <a:r>
              <a:rPr i="1" dirty="0"/>
              <a:t>Association / Composition / Aggregation</a:t>
            </a:r>
            <a:r>
              <a:rPr dirty="0"/>
              <a:t>)</a:t>
            </a:r>
          </a:p>
          <a:p>
            <a:pPr marL="1085850" lvl="2" indent="-1714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/>
              <a:t>Object lain </a:t>
            </a:r>
            <a:r>
              <a:rPr sz="1400" dirty="0">
                <a:highlight>
                  <a:srgbClr val="FFFF00"/>
                </a:highlight>
              </a:rPr>
              <a:t>DISIMPAN </a:t>
            </a:r>
            <a:r>
              <a:rPr sz="1400" dirty="0" err="1">
                <a:highlight>
                  <a:srgbClr val="FFFF00"/>
                </a:highlight>
              </a:rPr>
              <a:t>sebagai</a:t>
            </a:r>
            <a:r>
              <a:rPr sz="1400" dirty="0">
                <a:highlight>
                  <a:srgbClr val="FFFF00"/>
                </a:highlight>
              </a:rPr>
              <a:t> </a:t>
            </a:r>
            <a:r>
              <a:rPr sz="1400" dirty="0" err="1">
                <a:highlight>
                  <a:srgbClr val="FFFF00"/>
                </a:highlight>
              </a:rPr>
              <a:t>atribut</a:t>
            </a:r>
            <a:r>
              <a:rPr sz="1400" dirty="0">
                <a:highlight>
                  <a:srgbClr val="FFFF00"/>
                </a:highlight>
              </a:rPr>
              <a:t> </a:t>
            </a:r>
            <a:r>
              <a:rPr sz="1400" dirty="0"/>
              <a:t>(</a:t>
            </a:r>
            <a:r>
              <a:rPr sz="1400" i="1" dirty="0"/>
              <a:t>field</a:t>
            </a:r>
            <a:r>
              <a:rPr sz="1400" dirty="0"/>
              <a:t>) </a:t>
            </a:r>
            <a:r>
              <a:rPr sz="1400" dirty="0" err="1"/>
              <a:t>tetap</a:t>
            </a:r>
            <a:endParaRPr sz="1400" dirty="0"/>
          </a:p>
          <a:p>
            <a:pPr marL="1085850" lvl="2" indent="-1714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 err="1"/>
              <a:t>Contoh</a:t>
            </a:r>
            <a:r>
              <a:rPr sz="1400" dirty="0"/>
              <a:t>: Laptop HAS-A Processor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3. </a:t>
            </a:r>
            <a:r>
              <a:rPr dirty="0">
                <a:highlight>
                  <a:srgbClr val="FFFF00"/>
                </a:highlight>
              </a:rPr>
              <a:t>IS-A</a:t>
            </a:r>
            <a:r>
              <a:rPr dirty="0"/>
              <a:t> (Inheritance)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akan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dibahas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mendalam</a:t>
            </a:r>
            <a:r>
              <a:rPr dirty="0">
                <a:solidFill>
                  <a:srgbClr val="FF0000"/>
                </a:solidFill>
              </a:rPr>
              <a:t> di </a:t>
            </a:r>
            <a:r>
              <a:rPr dirty="0" err="1">
                <a:solidFill>
                  <a:srgbClr val="FF0000"/>
                </a:solidFill>
              </a:rPr>
              <a:t>pertemuan</a:t>
            </a:r>
            <a:r>
              <a:rPr dirty="0">
                <a:solidFill>
                  <a:srgbClr val="FF0000"/>
                </a:solidFill>
              </a:rPr>
              <a:t> lain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 err="1"/>
              <a:t>Contoh</a:t>
            </a:r>
            <a:r>
              <a:rPr sz="1400" dirty="0"/>
              <a:t>: Dog IS-A Animal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572000"/>
            <a:ext cx="10881360" cy="1691640"/>
          </a:xfrm>
          <a:prstGeom prst="roundRect">
            <a:avLst/>
          </a:prstGeom>
          <a:solidFill>
            <a:srgbClr val="E8F0F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rPr dirty="0"/>
              <a:t>❓ Cara </a:t>
            </a:r>
            <a:r>
              <a:rPr dirty="0" err="1"/>
              <a:t>cepat</a:t>
            </a:r>
            <a:r>
              <a:rPr dirty="0"/>
              <a:t> </a:t>
            </a:r>
            <a:r>
              <a:rPr dirty="0" err="1"/>
              <a:t>membedakan</a:t>
            </a:r>
            <a:r>
              <a:rPr dirty="0"/>
              <a:t> di </a:t>
            </a:r>
            <a:r>
              <a:rPr dirty="0" err="1"/>
              <a:t>kode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:</a:t>
            </a:r>
          </a:p>
          <a:p>
            <a:pPr>
              <a:spcBef>
                <a:spcPts val="600"/>
              </a:spcBef>
              <a:defRPr sz="1450">
                <a:solidFill>
                  <a:srgbClr val="202020"/>
                </a:solidFill>
              </a:defRPr>
            </a:pPr>
            <a:r>
              <a:rPr dirty="0"/>
              <a:t>Object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disimpan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private field di class? → HAS-A.  Object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muncul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parameter method dan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disimpan</a:t>
            </a:r>
            <a:r>
              <a:rPr dirty="0"/>
              <a:t>? → USES-A.</a:t>
            </a:r>
          </a:p>
          <a:p>
            <a:pPr>
              <a:spcBef>
                <a:spcPts val="600"/>
              </a:spcBef>
              <a:defRPr sz="1450">
                <a:solidFill>
                  <a:srgbClr val="202020"/>
                </a:solidFill>
              </a:defRPr>
            </a:pP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kontras</a:t>
            </a:r>
            <a:r>
              <a:rPr dirty="0"/>
              <a:t> dengan class yang SAMA: </a:t>
            </a:r>
            <a:r>
              <a:rPr dirty="0" err="1">
                <a:latin typeface="Consolas" panose="020B0609020204030204" pitchFamily="49" charset="0"/>
              </a:rPr>
              <a:t>Driver.mengemudikan</a:t>
            </a:r>
            <a:r>
              <a:rPr dirty="0">
                <a:latin typeface="Consolas" panose="020B0609020204030204" pitchFamily="49" charset="0"/>
              </a:rPr>
              <a:t>(Mobil m) </a:t>
            </a:r>
            <a:r>
              <a:rPr dirty="0"/>
              <a:t>→ USES-A (parameter). Tapi </a:t>
            </a:r>
            <a:r>
              <a:rPr dirty="0" err="1"/>
              <a:t>jika</a:t>
            </a:r>
            <a:r>
              <a:rPr dirty="0"/>
              <a:t> </a:t>
            </a:r>
            <a:r>
              <a:rPr sz="1450" dirty="0">
                <a:solidFill>
                  <a:srgbClr val="202020"/>
                </a:solidFill>
                <a:latin typeface="Consolas" panose="020B0609020204030204" pitchFamily="49" charset="0"/>
              </a:rPr>
              <a:t>Driver</a:t>
            </a:r>
            <a:r>
              <a:rPr dirty="0"/>
              <a:t> punya </a:t>
            </a:r>
            <a:r>
              <a:rPr sz="1450" dirty="0">
                <a:solidFill>
                  <a:srgbClr val="202020"/>
                </a:solidFill>
                <a:latin typeface="Consolas" panose="020B0609020204030204" pitchFamily="49" charset="0"/>
              </a:rPr>
              <a:t>private Mobil </a:t>
            </a:r>
            <a:r>
              <a:rPr sz="1450" dirty="0" err="1">
                <a:solidFill>
                  <a:srgbClr val="202020"/>
                </a:solidFill>
                <a:latin typeface="Consolas" panose="020B0609020204030204" pitchFamily="49" charset="0"/>
              </a:rPr>
              <a:t>mobilSaatIni</a:t>
            </a:r>
            <a:r>
              <a:rPr dirty="0"/>
              <a:t>; → </a:t>
            </a:r>
            <a:r>
              <a:rPr dirty="0" err="1"/>
              <a:t>itu</a:t>
            </a:r>
            <a:r>
              <a:rPr dirty="0"/>
              <a:t> sudah HAS-A (Association) — </a:t>
            </a:r>
            <a:r>
              <a:rPr dirty="0" err="1"/>
              <a:t>walau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BUKAN </a:t>
            </a:r>
            <a:r>
              <a:rPr i="1" dirty="0">
                <a:highlight>
                  <a:srgbClr val="FFFF00"/>
                </a:highlight>
              </a:rPr>
              <a:t>whole-part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/>
              <a:t>seperti</a:t>
            </a:r>
            <a:r>
              <a:rPr dirty="0"/>
              <a:t> </a:t>
            </a:r>
            <a:r>
              <a:rPr i="1" dirty="0"/>
              <a:t>Composition/Aggregation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Calibri"/>
              </a:defRPr>
            </a:pPr>
            <a:r>
              <a:t>Spektrum Kekuatan Relasi HAS-A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25" y="1280160"/>
            <a:ext cx="3611880" cy="4073834"/>
          </a:xfrm>
          <a:prstGeom prst="roundRect">
            <a:avLst/>
          </a:prstGeom>
          <a:solidFill>
            <a:srgbClr val="EAF7EC"/>
          </a:solidFill>
          <a:ln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09728" rtlCol="0" anchor="ctr"/>
          <a:lstStyle/>
          <a:p>
            <a:pPr algn="ctr">
              <a:spcAft>
                <a:spcPts val="500"/>
              </a:spcAft>
              <a:defRPr sz="1500" b="1">
                <a:solidFill>
                  <a:srgbClr val="1E7B34"/>
                </a:solidFill>
              </a:defRPr>
            </a:pPr>
            <a:r>
              <a:rPr dirty="0"/>
              <a:t>ASSOCIATION (Paling </a:t>
            </a:r>
            <a:r>
              <a:rPr dirty="0" err="1"/>
              <a:t>Lemah</a:t>
            </a:r>
            <a:r>
              <a:rPr dirty="0"/>
              <a:t>)</a:t>
            </a:r>
          </a:p>
          <a:p>
            <a:pPr>
              <a:spcAft>
                <a:spcPts val="500"/>
              </a:spcAft>
              <a:defRPr sz="800" b="0">
                <a:solidFill>
                  <a:srgbClr val="202020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 err="1"/>
              <a:t>Sekadar</a:t>
            </a:r>
            <a:r>
              <a:rPr dirty="0"/>
              <a:t> "</a:t>
            </a:r>
            <a:r>
              <a:rPr dirty="0" err="1"/>
              <a:t>mengenal</a:t>
            </a:r>
            <a:r>
              <a:rPr dirty="0"/>
              <a:t> &amp; </a:t>
            </a:r>
            <a:r>
              <a:rPr dirty="0" err="1"/>
              <a:t>menyimpan</a:t>
            </a:r>
            <a:r>
              <a:rPr dirty="0"/>
              <a:t>" </a:t>
            </a:r>
            <a:r>
              <a:rPr dirty="0" err="1"/>
              <a:t>referensi</a:t>
            </a: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 err="1"/>
              <a:t>Bukan</a:t>
            </a:r>
            <a:r>
              <a:rPr dirty="0"/>
              <a:t> whole-part, </a:t>
            </a:r>
            <a:r>
              <a:rPr dirty="0" err="1"/>
              <a:t>tanpa</a:t>
            </a:r>
            <a:r>
              <a:rPr dirty="0"/>
              <a:t> ownership </a:t>
            </a:r>
            <a:r>
              <a:rPr dirty="0" err="1"/>
              <a:t>khusus</a:t>
            </a: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Part </a:t>
            </a:r>
            <a:r>
              <a:rPr dirty="0" err="1"/>
              <a:t>berdiri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,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terikat</a:t>
            </a:r>
            <a:endParaRPr dirty="0"/>
          </a:p>
          <a:p>
            <a:pPr>
              <a:spcAft>
                <a:spcPts val="500"/>
              </a:spcAft>
              <a:defRPr sz="800" b="0">
                <a:solidFill>
                  <a:srgbClr val="202020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 b="1">
                <a:solidFill>
                  <a:srgbClr val="1E7B34"/>
                </a:solidFill>
              </a:defRPr>
            </a:pPr>
            <a:r>
              <a:rPr dirty="0" err="1"/>
              <a:t>Contoh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Driver — Mobil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(Driver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referensi</a:t>
            </a:r>
            <a:r>
              <a:rPr dirty="0"/>
              <a:t> Mobil,</a:t>
            </a:r>
            <a:r>
              <a:rPr lang="en-US" dirty="0"/>
              <a:t> </a:t>
            </a:r>
            <a:r>
              <a:rPr dirty="0" err="1"/>
              <a:t>tapi</a:t>
            </a:r>
            <a:r>
              <a:rPr dirty="0"/>
              <a:t> Mobil </a:t>
            </a:r>
            <a:r>
              <a:rPr dirty="0" err="1"/>
              <a:t>bukan</a:t>
            </a:r>
            <a:r>
              <a:rPr dirty="0"/>
              <a:t> "</a:t>
            </a:r>
            <a:r>
              <a:rPr dirty="0" err="1"/>
              <a:t>bagian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" Driver)</a:t>
            </a:r>
            <a:endParaRPr lang="en-US"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lang="en-US" sz="1300" b="1" dirty="0">
                <a:solidFill>
                  <a:srgbClr val="1E7B34"/>
                </a:solidFill>
              </a:rPr>
              <a:t>Kode: </a:t>
            </a:r>
            <a:br>
              <a:rPr lang="en-US" sz="1300" b="1" dirty="0">
                <a:solidFill>
                  <a:srgbClr val="1E7B34"/>
                </a:solidFill>
              </a:rPr>
            </a:br>
            <a:r>
              <a:rPr lang="id-ID" sz="130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lang="id-ID"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9334E6"/>
                </a:solidFill>
                <a:latin typeface="Consolas"/>
              </a:rPr>
              <a:t>Mobil</a:t>
            </a:r>
            <a:r>
              <a:rPr lang="id-ID"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lang="en-US" sz="13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mobilSaatIni</a:t>
            </a:r>
            <a:r>
              <a:rPr lang="en-US" sz="1300" dirty="0">
                <a:solidFill>
                  <a:srgbClr val="9334E6"/>
                </a:solidFill>
                <a:latin typeface="Consolas"/>
              </a:rPr>
              <a:t>;</a:t>
            </a:r>
            <a:endParaRPr lang="en-US" sz="1300" b="1" dirty="0">
              <a:solidFill>
                <a:srgbClr val="1E7B34"/>
              </a:solidFill>
            </a:endParaRP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endParaRPr sz="1300" b="1" dirty="0">
              <a:solidFill>
                <a:srgbClr val="1E7B3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994785" y="1280160"/>
            <a:ext cx="3611880" cy="4073834"/>
          </a:xfrm>
          <a:prstGeom prst="roundRect">
            <a:avLst/>
          </a:prstGeom>
          <a:solidFill>
            <a:srgbClr val="FEF3E8"/>
          </a:solidFill>
          <a:ln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09728" rtlCol="0" anchor="ctr"/>
          <a:lstStyle/>
          <a:p>
            <a:pPr algn="ctr">
              <a:spcAft>
                <a:spcPts val="500"/>
              </a:spcAft>
              <a:defRPr sz="1500" b="1">
                <a:solidFill>
                  <a:srgbClr val="B86A00"/>
                </a:solidFill>
              </a:defRPr>
            </a:pPr>
            <a:r>
              <a:rPr dirty="0"/>
              <a:t>AGGREGATION ◇ (Weak Ownership)</a:t>
            </a:r>
          </a:p>
          <a:p>
            <a:pPr>
              <a:spcAft>
                <a:spcPts val="500"/>
              </a:spcAft>
              <a:defRPr sz="800" b="0">
                <a:solidFill>
                  <a:srgbClr val="202020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Whole-part, </a:t>
            </a:r>
            <a:r>
              <a:rPr dirty="0" err="1"/>
              <a:t>tapi</a:t>
            </a:r>
            <a:r>
              <a:rPr dirty="0"/>
              <a:t> part </a:t>
            </a:r>
            <a:r>
              <a:rPr dirty="0" err="1"/>
              <a:t>independen</a:t>
            </a: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Jika "whole" </a:t>
            </a:r>
            <a:r>
              <a:rPr dirty="0" err="1"/>
              <a:t>dihapus</a:t>
            </a:r>
            <a:r>
              <a:rPr dirty="0"/>
              <a:t>, "part"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ada</a:t>
            </a: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Part bisa </a:t>
            </a:r>
            <a:r>
              <a:rPr dirty="0" err="1"/>
              <a:t>dibagi</a:t>
            </a:r>
            <a:r>
              <a:rPr dirty="0"/>
              <a:t>/</a:t>
            </a:r>
            <a:r>
              <a:rPr dirty="0" err="1"/>
              <a:t>pindah</a:t>
            </a:r>
            <a:r>
              <a:rPr dirty="0"/>
              <a:t> ke whole lain</a:t>
            </a:r>
          </a:p>
          <a:p>
            <a:pPr>
              <a:spcAft>
                <a:spcPts val="500"/>
              </a:spcAft>
              <a:defRPr sz="800" b="0">
                <a:solidFill>
                  <a:srgbClr val="202020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 b="1">
                <a:solidFill>
                  <a:srgbClr val="B86A00"/>
                </a:solidFill>
              </a:defRPr>
            </a:pPr>
            <a:r>
              <a:rPr dirty="0" err="1"/>
              <a:t>Contoh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 err="1"/>
              <a:t>Mahasiswa</a:t>
            </a:r>
            <a:r>
              <a:rPr dirty="0"/>
              <a:t> ◇ </a:t>
            </a:r>
            <a:r>
              <a:rPr dirty="0" err="1"/>
              <a:t>Jurusan</a:t>
            </a: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lang="id-ID" dirty="0"/>
              <a:t>Laptop ◇ Processor (di-inject</a:t>
            </a:r>
            <a:r>
              <a:rPr lang="en-US" dirty="0"/>
              <a:t> </a:t>
            </a:r>
            <a:r>
              <a:rPr lang="id-ID" dirty="0"/>
              <a:t>lewat setCPU — lihat Studi Kasus 1)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lang="en-US" sz="1300" b="1" dirty="0">
                <a:solidFill>
                  <a:srgbClr val="B86A00"/>
                </a:solidFill>
              </a:rPr>
              <a:t>Kode: </a:t>
            </a:r>
            <a:br>
              <a:rPr lang="en-US" sz="1300" b="1" dirty="0">
                <a:solidFill>
                  <a:srgbClr val="1E7B34"/>
                </a:solidFill>
              </a:rPr>
            </a:br>
            <a:r>
              <a:rPr lang="en-US" sz="1300" dirty="0" err="1">
                <a:solidFill>
                  <a:srgbClr val="9334E6"/>
                </a:solidFill>
                <a:latin typeface="Consolas"/>
              </a:rPr>
              <a:t>Mahasiswa</a:t>
            </a:r>
            <a:r>
              <a:rPr lang="en-US" sz="1300" dirty="0">
                <a:solidFill>
                  <a:srgbClr val="9334E6"/>
                </a:solidFill>
                <a:latin typeface="Consolas"/>
              </a:rPr>
              <a:t>(…, </a:t>
            </a:r>
            <a:r>
              <a:rPr lang="en-US" sz="1300" dirty="0" err="1">
                <a:solidFill>
                  <a:srgbClr val="9334E6"/>
                </a:solidFill>
                <a:latin typeface="Consolas"/>
              </a:rPr>
              <a:t>Jurusan</a:t>
            </a:r>
            <a:r>
              <a:rPr lang="en-US" sz="1300" dirty="0">
                <a:solidFill>
                  <a:srgbClr val="9334E6"/>
                </a:solidFill>
                <a:latin typeface="Consolas"/>
              </a:rPr>
              <a:t> </a:t>
            </a:r>
            <a:r>
              <a:rPr lang="en-US" sz="13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jur</a:t>
            </a:r>
            <a:r>
              <a:rPr lang="en-US" sz="1300" dirty="0">
                <a:solidFill>
                  <a:srgbClr val="9334E6"/>
                </a:solidFill>
                <a:latin typeface="Consolas"/>
              </a:rPr>
              <a:t>){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lang="en-US" sz="1300" dirty="0">
                <a:solidFill>
                  <a:srgbClr val="9334E6"/>
                </a:solidFill>
                <a:latin typeface="Consolas"/>
              </a:rPr>
              <a:t>    Jur = </a:t>
            </a:r>
            <a:r>
              <a:rPr lang="en-US" sz="13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jur</a:t>
            </a:r>
            <a:r>
              <a:rPr lang="en-US" sz="1300" dirty="0">
                <a:solidFill>
                  <a:srgbClr val="9334E6"/>
                </a:solidFill>
                <a:latin typeface="Consolas"/>
              </a:rPr>
              <a:t>;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lang="en-US" sz="1300" dirty="0">
                <a:solidFill>
                  <a:srgbClr val="9334E6"/>
                </a:solidFill>
                <a:latin typeface="Consolas"/>
              </a:rPr>
              <a:t>}</a:t>
            </a:r>
            <a:endParaRPr lang="en-US" sz="1300" b="1" dirty="0">
              <a:solidFill>
                <a:srgbClr val="1E7B3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89544" y="1280160"/>
            <a:ext cx="4307205" cy="4073834"/>
          </a:xfrm>
          <a:prstGeom prst="roundRect">
            <a:avLst/>
          </a:prstGeom>
          <a:solidFill>
            <a:srgbClr val="E8F0F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09728" rtlCol="0" anchor="ctr"/>
          <a:lstStyle/>
          <a:p>
            <a:pPr algn="ctr">
              <a:spcAft>
                <a:spcPts val="500"/>
              </a:spcAft>
              <a:defRPr sz="1500" b="1">
                <a:solidFill>
                  <a:srgbClr val="1F4E79"/>
                </a:solidFill>
              </a:defRPr>
            </a:pPr>
            <a:r>
              <a:rPr dirty="0"/>
              <a:t>COMPOSITION ◆ (Strong Ownership)</a:t>
            </a:r>
          </a:p>
          <a:p>
            <a:pPr>
              <a:spcAft>
                <a:spcPts val="500"/>
              </a:spcAft>
              <a:defRPr sz="800" b="0">
                <a:solidFill>
                  <a:srgbClr val="202020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Whole-part, lifecycle part </a:t>
            </a:r>
            <a:r>
              <a:rPr dirty="0" err="1"/>
              <a:t>terikat</a:t>
            </a:r>
            <a:r>
              <a:rPr dirty="0"/>
              <a:t> whole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Jika "whole" </a:t>
            </a:r>
            <a:r>
              <a:rPr dirty="0" err="1"/>
              <a:t>dihapus</a:t>
            </a:r>
            <a:r>
              <a:rPr dirty="0"/>
              <a:t>, "part" </a:t>
            </a:r>
            <a:r>
              <a:rPr dirty="0" err="1"/>
              <a:t>ikut</a:t>
            </a:r>
            <a:r>
              <a:rPr dirty="0"/>
              <a:t> </a:t>
            </a:r>
            <a:r>
              <a:rPr dirty="0" err="1"/>
              <a:t>hilang</a:t>
            </a:r>
            <a:endParaRPr dirty="0"/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dirty="0"/>
              <a:t>Part </a:t>
            </a:r>
            <a:r>
              <a:rPr dirty="0" err="1"/>
              <a:t>biasanya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dibagi</a:t>
            </a:r>
            <a:endParaRPr dirty="0"/>
          </a:p>
          <a:p>
            <a:pPr>
              <a:spcAft>
                <a:spcPts val="500"/>
              </a:spcAft>
              <a:defRPr sz="800" b="0">
                <a:solidFill>
                  <a:srgbClr val="202020"/>
                </a:solidFill>
              </a:defRPr>
            </a:pPr>
            <a:endParaRPr dirty="0"/>
          </a:p>
          <a:p>
            <a:pPr>
              <a:spcAft>
                <a:spcPts val="500"/>
              </a:spcAft>
              <a:defRPr sz="1300" b="1">
                <a:solidFill>
                  <a:srgbClr val="1F4E79"/>
                </a:solidFill>
              </a:defRPr>
            </a:pPr>
            <a:r>
              <a:rPr dirty="0" err="1"/>
              <a:t>Contoh</a:t>
            </a:r>
            <a:r>
              <a:rPr dirty="0"/>
              <a:t>: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lang="id-ID" dirty="0"/>
              <a:t>Car ◆ Engine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r>
              <a:rPr lang="id-ID" dirty="0"/>
              <a:t>(Engine di-new LANGSUNG di dalam</a:t>
            </a:r>
            <a:r>
              <a:rPr lang="en-US" dirty="0"/>
              <a:t> </a:t>
            </a:r>
            <a:r>
              <a:rPr lang="id-ID" dirty="0"/>
              <a:t>constructor Car, "mati" bersama Car)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1F4E79"/>
                </a:solidFill>
              </a:defRPr>
            </a:pPr>
            <a:r>
              <a:rPr lang="id-ID" dirty="0"/>
              <a:t>Kode:</a:t>
            </a:r>
          </a:p>
          <a:p>
            <a:pPr>
              <a:spcAft>
                <a:spcPts val="200"/>
              </a:spcAft>
            </a:pPr>
            <a:r>
              <a:rPr lang="id-ID" sz="1100" dirty="0">
                <a:solidFill>
                  <a:srgbClr val="9334E6"/>
                </a:solidFill>
                <a:latin typeface="Consolas"/>
              </a:rPr>
              <a:t>Engine</a:t>
            </a:r>
            <a:r>
              <a:rPr lang="id-ID"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lang="id-ID" sz="1100" dirty="0">
                <a:solidFill>
                  <a:srgbClr val="B45908"/>
                </a:solidFill>
                <a:latin typeface="Consolas"/>
              </a:rPr>
              <a:t>mesin</a:t>
            </a:r>
            <a:r>
              <a:rPr lang="id-ID" sz="1100" dirty="0">
                <a:solidFill>
                  <a:srgbClr val="0B1F33"/>
                </a:solidFill>
                <a:latin typeface="Consolas"/>
              </a:rPr>
              <a:t> = </a:t>
            </a:r>
            <a:r>
              <a:rPr lang="id-ID" sz="1100" dirty="0">
                <a:solidFill>
                  <a:srgbClr val="9334E6"/>
                </a:solidFill>
                <a:latin typeface="Consolas"/>
              </a:rPr>
              <a:t>new</a:t>
            </a:r>
            <a:r>
              <a:rPr lang="id-ID"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lang="id-ID" sz="1100" dirty="0">
                <a:solidFill>
                  <a:srgbClr val="9334E6"/>
                </a:solidFill>
                <a:latin typeface="Consolas"/>
              </a:rPr>
              <a:t>Engine</a:t>
            </a:r>
            <a:r>
              <a:rPr lang="id-ID" sz="110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spcAft>
                <a:spcPts val="500"/>
              </a:spcAft>
              <a:defRPr sz="1300" b="0">
                <a:solidFill>
                  <a:srgbClr val="202020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6145925"/>
            <a:ext cx="10911535" cy="300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Ketiganya</a:t>
            </a:r>
            <a:r>
              <a:rPr dirty="0"/>
              <a:t> </a:t>
            </a:r>
            <a:r>
              <a:rPr dirty="0" err="1"/>
              <a:t>sama-sama</a:t>
            </a:r>
            <a:r>
              <a:rPr dirty="0"/>
              <a:t> HAS-A (field </a:t>
            </a:r>
            <a:r>
              <a:rPr dirty="0" err="1"/>
              <a:t>tersimpan</a:t>
            </a:r>
            <a:r>
              <a:rPr dirty="0"/>
              <a:t>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bedanya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SEBERAPA KUAT ownership-</a:t>
            </a:r>
            <a:r>
              <a:rPr dirty="0" err="1"/>
              <a:t>nya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Karakteristik di Java: Ciri Kode Tiap Relasi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49295"/>
              </p:ext>
            </p:extLst>
          </p:nvPr>
        </p:nvGraphicFramePr>
        <p:xfrm>
          <a:off x="548640" y="1640205"/>
          <a:ext cx="1115568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Jenis </a:t>
                      </a:r>
                      <a:r>
                        <a:rPr dirty="0" err="1"/>
                        <a:t>Relasi</a:t>
                      </a:r>
                      <a:endParaRPr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Hubungan Logis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Ciri Kode di Java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Kekuatan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5A5A5A"/>
                          </a:solidFill>
                        </a:defRPr>
                      </a:pPr>
                      <a:r>
                        <a:t>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Uses-a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(memakai sementara)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Muncul sebagai parameter atau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variabel lokal di dalam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1/4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(Paling Lemah)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1E7B34"/>
                          </a:solidFill>
                        </a:defRPr>
                      </a:pPr>
                      <a:r>
                        <a:t>Association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Peer-to-peer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(saling tahu)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Field menyimpan REFERENSI objek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lain (disimpan, bukan dibuat)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2/4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B86A00"/>
                          </a:solidFill>
                        </a:defRPr>
                      </a:pPr>
                      <a:r>
                        <a:t>Aggregation 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Has-a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(memiliki secara longgar)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Objek "part" dibuat DI LUAR, lalu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di-inject lewat constructor/setter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3/4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1F4E79"/>
                          </a:solidFill>
                        </a:defRPr>
                      </a:pPr>
                      <a:r>
                        <a:t>Composition ◆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Part-of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(bagian mutlak)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Objek "part" di-new LANGSUNG di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t>dalam class induk (biasanya di constructor)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4/4</a:t>
                      </a:r>
                    </a:p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(Paling Kuat)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Contoh Composition Sungguhan: Car ◆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486400" cy="5303520"/>
          </a:xfrm>
          <a:prstGeom prst="roundRect">
            <a:avLst>
              <a:gd name="adj" fmla="val 8406"/>
            </a:avLst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Engine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tipe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Engine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this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tipe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950" dirty="0">
                <a:solidFill>
                  <a:srgbClr val="188038"/>
                </a:solidFill>
                <a:latin typeface="Consolas"/>
              </a:rPr>
              <a:t>"4-silinder"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getTipe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tipe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Car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merek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Engine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mesin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Car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</a:t>
            </a:r>
            <a:r>
              <a:rPr sz="9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merek</a:t>
            </a:r>
            <a:r>
              <a:rPr sz="9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this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merek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merek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this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mesin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Engine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tampilkanInfo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</a:t>
            </a:r>
            <a:r>
              <a:rPr sz="950" dirty="0">
                <a:solidFill>
                  <a:srgbClr val="188038"/>
                </a:solidFill>
                <a:latin typeface="Consolas"/>
              </a:rPr>
              <a:t>"Car: "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merek</a:t>
            </a:r>
            <a:r>
              <a:rPr sz="9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</a:t>
            </a:r>
            <a:r>
              <a:rPr sz="950" dirty="0">
                <a:solidFill>
                  <a:srgbClr val="188038"/>
                </a:solidFill>
                <a:latin typeface="Consolas"/>
              </a:rPr>
              <a:t>"Engine: "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mesin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getTipe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486400" cy="3766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>
                <a:latin typeface="Consolas" panose="020B0609020204030204" pitchFamily="49" charset="0"/>
              </a:rPr>
              <a:t>Engine</a:t>
            </a:r>
            <a:r>
              <a:rPr dirty="0"/>
              <a:t> di-new LANGSUNG di </a:t>
            </a:r>
            <a:r>
              <a:rPr dirty="0" err="1"/>
              <a:t>dalam</a:t>
            </a:r>
            <a:r>
              <a:rPr dirty="0"/>
              <a:t> constructor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Car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diterima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luar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parameter.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Tidak </a:t>
            </a:r>
            <a:r>
              <a:rPr dirty="0" err="1"/>
              <a:t>ada</a:t>
            </a:r>
            <a:r>
              <a:rPr dirty="0"/>
              <a:t> 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setEngine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r>
              <a:rPr dirty="0"/>
              <a:t>/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setMesin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r>
              <a:rPr dirty="0"/>
              <a:t>. </a:t>
            </a:r>
            <a:r>
              <a:rPr dirty="0" err="1"/>
              <a:t>Sekali</a:t>
            </a:r>
            <a:r>
              <a:rPr dirty="0"/>
              <a:t>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Car</a:t>
            </a:r>
            <a:r>
              <a:rPr dirty="0"/>
              <a:t> </a:t>
            </a:r>
            <a:r>
              <a:rPr dirty="0" err="1"/>
              <a:t>dibuat</a:t>
            </a:r>
            <a:r>
              <a:rPr dirty="0"/>
              <a:t>,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Engine-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nya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bisa </a:t>
            </a:r>
            <a:r>
              <a:rPr dirty="0" err="1"/>
              <a:t>diganti</a:t>
            </a:r>
            <a:r>
              <a:rPr dirty="0"/>
              <a:t> atau </a:t>
            </a:r>
            <a:r>
              <a:rPr dirty="0" err="1"/>
              <a:t>diambil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luar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✓ </a:t>
            </a:r>
            <a:r>
              <a:rPr dirty="0" err="1"/>
              <a:t>Inilah</a:t>
            </a:r>
            <a:r>
              <a:rPr dirty="0"/>
              <a:t> yang </a:t>
            </a:r>
            <a:r>
              <a:rPr dirty="0" err="1"/>
              <a:t>menegakkan</a:t>
            </a:r>
            <a:r>
              <a:rPr dirty="0"/>
              <a:t> Composition </a:t>
            </a:r>
            <a:r>
              <a:rPr dirty="0" err="1"/>
              <a:t>secara</a:t>
            </a:r>
            <a:r>
              <a:rPr dirty="0"/>
              <a:t> KODE: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lifecycle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Engine</a:t>
            </a:r>
            <a:r>
              <a:rPr dirty="0"/>
              <a:t> </a:t>
            </a:r>
            <a:r>
              <a:rPr dirty="0" err="1"/>
              <a:t>sepenuhnya</a:t>
            </a:r>
            <a:r>
              <a:rPr dirty="0"/>
              <a:t> </a:t>
            </a:r>
            <a:r>
              <a:rPr dirty="0" err="1"/>
              <a:t>dikendalikan</a:t>
            </a:r>
            <a:r>
              <a:rPr dirty="0"/>
              <a:t> oleh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Car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Bandingkan</a:t>
            </a:r>
            <a:r>
              <a:rPr dirty="0"/>
              <a:t> dengan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Laptop</a:t>
            </a:r>
            <a:r>
              <a:rPr dirty="0"/>
              <a:t> ◇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Processor</a:t>
            </a:r>
            <a:r>
              <a:rPr dirty="0"/>
              <a:t> (Aggregation):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Processor </a:t>
            </a:r>
            <a:r>
              <a:rPr dirty="0" err="1"/>
              <a:t>dibuat</a:t>
            </a:r>
            <a:r>
              <a:rPr dirty="0"/>
              <a:t> DI LUAR, </a:t>
            </a:r>
            <a:r>
              <a:rPr dirty="0" err="1"/>
              <a:t>lalu</a:t>
            </a:r>
            <a:r>
              <a:rPr dirty="0"/>
              <a:t> di-inject via 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setCPU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Model Memori: Stack vs Heap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5120640" cy="265176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700" b="1">
                <a:solidFill>
                  <a:srgbClr val="1F4E79"/>
                </a:solidFill>
                <a:latin typeface="Calibri"/>
              </a:defRPr>
            </a:pPr>
            <a:r>
              <a:t>STACK (variabel lokal)</a:t>
            </a:r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r>
              <a:t>Laptop lap;</a:t>
            </a:r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r>
              <a:t>Processor cpu;</a:t>
            </a:r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r>
              <a:t>Hanya REFERENCE (alamat)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852160" y="2286000"/>
            <a:ext cx="640080" cy="457200"/>
          </a:xfrm>
          <a:prstGeom prst="rightArrow">
            <a:avLst/>
          </a:prstGeom>
          <a:solidFill>
            <a:srgbClr val="C0A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0" y="1280160"/>
            <a:ext cx="5120640" cy="2651760"/>
          </a:xfrm>
          <a:prstGeom prst="rect">
            <a:avLst/>
          </a:prstGeom>
          <a:solidFill>
            <a:srgbClr val="E8F0F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700" b="1">
                <a:solidFill>
                  <a:srgbClr val="1F4E79"/>
                </a:solidFill>
                <a:latin typeface="Calibri"/>
              </a:defRPr>
            </a:pPr>
            <a:r>
              <a:t>HEAP (object sesungguhnya)</a:t>
            </a:r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r>
              <a:t>new Laptop()</a:t>
            </a:r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r>
              <a:t>new Processor()</a:t>
            </a:r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500" b="0">
                <a:solidFill>
                  <a:srgbClr val="202020"/>
                </a:solidFill>
                <a:latin typeface="Consolas"/>
              </a:defRPr>
            </a:pPr>
            <a:r>
              <a:t>Objek asli disimpan di sini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67224"/>
            <a:ext cx="10881360" cy="1933575"/>
          </a:xfrm>
          <a:prstGeom prst="roundRect">
            <a:avLst/>
          </a:prstGeom>
          <a:solidFill>
            <a:srgbClr val="FFF4E0"/>
          </a:solidFill>
          <a:ln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PENTING: lap.setCPU(cpu) menyalin REFERENCE, bukan menggandakan objek Processor.</a:t>
            </a:r>
          </a:p>
          <a:p>
            <a:pPr>
              <a:spcBef>
                <a:spcPts val="800"/>
              </a:spcBef>
              <a:defRPr sz="1400">
                <a:solidFill>
                  <a:srgbClr val="202020"/>
                </a:solidFill>
              </a:defRPr>
            </a:pPr>
            <a:r>
              <a:t>Berlaku juga saat objek dilewatkan sebagai parameter method (mis. cetakDokumen(Printer p)): yang disalin adalah REFERENCE-nya. Mengubah isi objek di dalam method akan terlihat di luar; tapi mengganti variabel parameter ke objek baru TIDAK memengaruhi variabel asal pemanggil.</a:t>
            </a:r>
          </a:p>
          <a:p>
            <a:pPr>
              <a:spcBef>
                <a:spcPts val="800"/>
              </a:spcBef>
              <a:defRPr sz="1300" i="1">
                <a:solidFill>
                  <a:srgbClr val="1F4E79"/>
                </a:solidFill>
              </a:defRPr>
            </a:pPr>
            <a:r>
              <a:t>Kumpulan objek yang saling terhubung lewat reference seperti ini disebut object graph — istilah yang akan sering muncul saat mendiskusikan relasi antar objek (mis. Laptop → Processor, atau Mahasiswa → Jurusan yang dipakai bersama).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rPr dirty="0"/>
              <a:t>Studi </a:t>
            </a:r>
            <a:r>
              <a:rPr dirty="0" err="1"/>
              <a:t>Kasus</a:t>
            </a:r>
            <a:r>
              <a:rPr dirty="0"/>
              <a:t> 1: Laptop </a:t>
            </a:r>
            <a:r>
              <a:rPr lang="id-ID" dirty="0"/>
              <a:t>◇</a:t>
            </a:r>
            <a:r>
              <a:rPr dirty="0"/>
              <a:t> Processor  (+ Uses-A Printer)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79949"/>
              </p:ext>
            </p:extLst>
          </p:nvPr>
        </p:nvGraphicFramePr>
        <p:xfrm>
          <a:off x="731520" y="1280160"/>
          <a:ext cx="4023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Laptop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Merek: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CPU: Processor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setMerek(mrk: String)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getMerek(): String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setCPU(proc: Processor)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getCPU(): Processor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tampilkanInfo</a:t>
                      </a:r>
                      <a:r>
                        <a:rPr dirty="0"/>
                        <a:t>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lang="en-US" dirty="0"/>
                        <a:t>+ </a:t>
                      </a:r>
                      <a:r>
                        <a:rPr lang="en-US" dirty="0" err="1"/>
                        <a:t>cetakDokumen</a:t>
                      </a:r>
                      <a:r>
                        <a:rPr lang="en-US" dirty="0"/>
                        <a:t>(p: Printer, </a:t>
                      </a:r>
                      <a:r>
                        <a:rPr lang="en-US" dirty="0" err="1"/>
                        <a:t>namaFile</a:t>
                      </a:r>
                      <a:r>
                        <a:rPr lang="en-US" dirty="0"/>
                        <a:t>: String)</a:t>
                      </a:r>
                      <a:endParaRPr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44762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280160"/>
          <a:ext cx="4206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Processor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Merek: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Frekuensi: double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setMerek(mrk: String)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getMerek(): String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setFrekuensi(frek: double)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getFrekuensi(): double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tampilkanInfo()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175266"/>
              </p:ext>
            </p:extLst>
          </p:nvPr>
        </p:nvGraphicFramePr>
        <p:xfrm>
          <a:off x="4008120" y="4707214"/>
          <a:ext cx="2743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Printer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Merek: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cetak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namaFile</a:t>
                      </a:r>
                      <a:r>
                        <a:rPr dirty="0"/>
                        <a:t>: String)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31595" y="489869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B86A00"/>
                </a:solidFill>
              </a:defRPr>
            </a:pPr>
            <a:r>
              <a:rPr dirty="0"/>
              <a:t>- - - USES-A (parameter) - - 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11535" cy="573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02020"/>
                </a:solidFill>
                <a:latin typeface="Calibri"/>
              </a:defRPr>
            </a:pPr>
            <a:r>
              <a:rPr lang="en-US" dirty="0"/>
              <a:t>Diamond ◇ = HAS-A/Aggregation (field, di-inject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)</a:t>
            </a:r>
            <a:r>
              <a:rPr dirty="0"/>
              <a:t>. Garis </a:t>
            </a:r>
            <a:r>
              <a:rPr dirty="0" err="1"/>
              <a:t>putus-putus</a:t>
            </a:r>
            <a:r>
              <a:rPr dirty="0"/>
              <a:t> = USES-A (parameter saja,</a:t>
            </a:r>
            <a:r>
              <a:rPr lang="en-US"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disimpan</a:t>
            </a:r>
            <a:r>
              <a:rPr dirty="0"/>
              <a:t>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buktikan</a:t>
            </a:r>
            <a:r>
              <a:rPr dirty="0"/>
              <a:t> di </a:t>
            </a:r>
            <a:r>
              <a:rPr dirty="0" err="1"/>
              <a:t>kode</a:t>
            </a:r>
            <a:r>
              <a:rPr dirty="0"/>
              <a:t> </a:t>
            </a:r>
            <a:r>
              <a:rPr dirty="0" err="1"/>
              <a:t>nanti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A9639D-8FD6-4DF8-1C93-4D07FBB994D0}"/>
              </a:ext>
            </a:extLst>
          </p:cNvPr>
          <p:cNvCxnSpPr>
            <a:cxnSpLocks/>
          </p:cNvCxnSpPr>
          <p:nvPr/>
        </p:nvCxnSpPr>
        <p:spPr>
          <a:xfrm>
            <a:off x="1933575" y="4572000"/>
            <a:ext cx="0" cy="4857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FA4356-D4D7-23D0-054D-BB81D1551164}"/>
              </a:ext>
            </a:extLst>
          </p:cNvPr>
          <p:cNvSpPr txBox="1"/>
          <p:nvPr/>
        </p:nvSpPr>
        <p:spPr>
          <a:xfrm>
            <a:off x="4846320" y="2201416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1F4E79"/>
                </a:solidFill>
              </a:defRPr>
            </a:pPr>
            <a:r>
              <a:rPr dirty="0"/>
              <a:t>1  ◇── HAS-A ──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44844-45C5-2C4A-DD92-64374C1879E9}"/>
              </a:ext>
            </a:extLst>
          </p:cNvPr>
          <p:cNvSpPr txBox="1"/>
          <p:nvPr/>
        </p:nvSpPr>
        <p:spPr>
          <a:xfrm>
            <a:off x="4846320" y="2535793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909090"/>
                </a:solidFill>
              </a:defRPr>
            </a:pPr>
            <a:r>
              <a:rPr dirty="0"/>
              <a:t>(proc </a:t>
            </a:r>
            <a:r>
              <a:rPr dirty="0" err="1"/>
              <a:t>dibuat</a:t>
            </a:r>
            <a:r>
              <a:rPr dirty="0"/>
              <a:t> di </a:t>
            </a:r>
            <a:r>
              <a:rPr dirty="0" err="1"/>
              <a:t>luar</a:t>
            </a:r>
            <a:r>
              <a:rPr dirty="0"/>
              <a:t>, di-inject </a:t>
            </a:r>
            <a:r>
              <a:rPr dirty="0" err="1"/>
              <a:t>lewat</a:t>
            </a:r>
            <a:r>
              <a:rPr dirty="0"/>
              <a:t> </a:t>
            </a:r>
            <a:r>
              <a:rPr dirty="0" err="1"/>
              <a:t>setCPU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Implementasi: class Processor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486400" cy="530352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Processor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double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Frekuensi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getMerek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setMerek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mrk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mrk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double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getFrekuensi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Frekuensi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setFrekuensi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double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frek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Frekuensi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frek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188038"/>
                </a:solidFill>
                <a:latin typeface="Consolas"/>
              </a:rPr>
              <a:t>"Merek processor: "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188038"/>
                </a:solidFill>
                <a:latin typeface="Consolas"/>
              </a:rPr>
              <a:t>"</a:t>
            </a:r>
            <a:r>
              <a:rPr sz="1050" dirty="0" err="1">
                <a:solidFill>
                  <a:srgbClr val="188038"/>
                </a:solidFill>
                <a:latin typeface="Consolas"/>
              </a:rPr>
              <a:t>Frekuensi</a:t>
            </a:r>
            <a:r>
              <a:rPr sz="1050" dirty="0">
                <a:solidFill>
                  <a:srgbClr val="188038"/>
                </a:solidFill>
                <a:latin typeface="Consolas"/>
              </a:rPr>
              <a:t> processor: "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+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       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Frekuensi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050" dirty="0">
                <a:solidFill>
                  <a:srgbClr val="188038"/>
                </a:solidFill>
                <a:latin typeface="Consolas"/>
              </a:rPr>
              <a:t>" GHz"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143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Class Processor </a:t>
            </a:r>
            <a:r>
              <a:rPr dirty="0" err="1"/>
              <a:t>berdiri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Memiliki</a:t>
            </a:r>
            <a:r>
              <a:rPr dirty="0"/>
              <a:t> </a:t>
            </a:r>
            <a:r>
              <a:rPr dirty="0" err="1"/>
              <a:t>atribut</a:t>
            </a:r>
            <a:r>
              <a:rPr dirty="0"/>
              <a:t> </a:t>
            </a:r>
            <a:r>
              <a:rPr dirty="0" err="1"/>
              <a:t>privat</a:t>
            </a:r>
            <a:r>
              <a:rPr dirty="0"/>
              <a:t> Merek dan </a:t>
            </a:r>
            <a:r>
              <a:rPr dirty="0" err="1"/>
              <a:t>Frekuensi</a:t>
            </a:r>
            <a:r>
              <a:rPr dirty="0"/>
              <a:t>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Disediakan</a:t>
            </a:r>
            <a:r>
              <a:rPr dirty="0"/>
              <a:t> getter/setter dan method </a:t>
            </a:r>
            <a:r>
              <a:rPr dirty="0" err="1"/>
              <a:t>tampilkanInfo</a:t>
            </a:r>
            <a:r>
              <a:rPr dirty="0"/>
              <a:t>()</a:t>
            </a:r>
            <a:r>
              <a:rPr lang="en-US" dirty="0"/>
              <a:t> </a:t>
            </a:r>
            <a:r>
              <a:rPr dirty="0"/>
              <a:t>untuk </a:t>
            </a:r>
            <a:r>
              <a:rPr dirty="0" err="1"/>
              <a:t>menampilkan</a:t>
            </a:r>
            <a:r>
              <a:rPr dirty="0"/>
              <a:t> </a:t>
            </a:r>
            <a:r>
              <a:rPr dirty="0" err="1"/>
              <a:t>datanya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Implementasi: class Laptop (HAS-A Processor)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486400" cy="530352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Laptop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Processor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CPU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getMerek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setMerek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mrk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mrk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Processor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getCPU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CPU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setCPU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Processor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B45908"/>
                </a:solidFill>
                <a:latin typeface="Consolas"/>
              </a:rPr>
              <a:t>proc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CPU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>
                <a:solidFill>
                  <a:srgbClr val="B45908"/>
                </a:solidFill>
                <a:latin typeface="Consolas"/>
              </a:rPr>
              <a:t>proc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188038"/>
                </a:solidFill>
                <a:latin typeface="Consolas"/>
              </a:rPr>
              <a:t>"Merek laptop: "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CPU</a:t>
            </a:r>
            <a:r>
              <a:rPr sz="10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283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Perhatikan</a:t>
            </a:r>
            <a:r>
              <a:rPr dirty="0"/>
              <a:t> </a:t>
            </a:r>
            <a:r>
              <a:rPr dirty="0" err="1"/>
              <a:t>atribut</a:t>
            </a:r>
            <a:r>
              <a:rPr dirty="0"/>
              <a:t>:</a:t>
            </a:r>
          </a:p>
          <a:p>
            <a:pPr lvl="1"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private Processor CPU;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Inilah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HAS-A: Laptop "</a:t>
            </a:r>
            <a:r>
              <a:rPr dirty="0" err="1"/>
              <a:t>memiliki</a:t>
            </a:r>
            <a:r>
              <a:rPr dirty="0"/>
              <a:t>" Processor</a:t>
            </a:r>
            <a:r>
              <a:rPr lang="en-US"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dirinya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setCPU</a:t>
            </a:r>
            <a:r>
              <a:rPr dirty="0"/>
              <a:t>(proc) </a:t>
            </a:r>
            <a:r>
              <a:rPr dirty="0" err="1"/>
              <a:t>menerima</a:t>
            </a:r>
            <a:r>
              <a:rPr dirty="0"/>
              <a:t> REFERENCE ke </a:t>
            </a:r>
            <a:r>
              <a:rPr dirty="0" err="1"/>
              <a:t>objek</a:t>
            </a:r>
            <a:r>
              <a:rPr lang="en-US" dirty="0"/>
              <a:t> </a:t>
            </a:r>
            <a:r>
              <a:rPr dirty="0"/>
              <a:t>Processor yang sudah </a:t>
            </a:r>
            <a:r>
              <a:rPr dirty="0" err="1"/>
              <a:t>dibuat</a:t>
            </a:r>
            <a:r>
              <a:rPr dirty="0"/>
              <a:t> </a:t>
            </a:r>
            <a:r>
              <a:rPr dirty="0" err="1"/>
              <a:t>sebelumnya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D789A36A-74D0-4262-DE98-352828F90DA0}"/>
              </a:ext>
            </a:extLst>
          </p:cNvPr>
          <p:cNvSpPr/>
          <p:nvPr/>
        </p:nvSpPr>
        <p:spPr>
          <a:xfrm>
            <a:off x="6309360" y="5074920"/>
            <a:ext cx="5486400" cy="1234440"/>
          </a:xfrm>
          <a:prstGeom prst="roundRect">
            <a:avLst/>
          </a:prstGeom>
          <a:solidFill>
            <a:srgbClr val="FFF4E0"/>
          </a:solidFill>
          <a:ln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09728" rtlCol="0" anchor="ctr"/>
          <a:lstStyle/>
          <a:p>
            <a:pPr algn="ctr">
              <a:defRPr sz="1250" b="1">
                <a:solidFill>
                  <a:srgbClr val="B86A00"/>
                </a:solidFill>
              </a:defRPr>
            </a:pPr>
            <a:r>
              <a:rPr dirty="0"/>
              <a:t>✓ </a:t>
            </a:r>
            <a:r>
              <a:rPr dirty="0" err="1"/>
              <a:t>Mengapa</a:t>
            </a:r>
            <a:r>
              <a:rPr dirty="0"/>
              <a:t> Aggregation, </a:t>
            </a:r>
            <a:r>
              <a:rPr dirty="0" err="1"/>
              <a:t>bukan</a:t>
            </a:r>
            <a:r>
              <a:rPr dirty="0"/>
              <a:t> Composition</a:t>
            </a:r>
          </a:p>
          <a:p>
            <a:pPr>
              <a:spcBef>
                <a:spcPts val="400"/>
              </a:spcBef>
              <a:defRPr sz="1150">
                <a:solidFill>
                  <a:srgbClr val="202020"/>
                </a:solidFill>
              </a:defRPr>
            </a:pPr>
            <a:r>
              <a:rPr dirty="0"/>
              <a:t>Processor </a:t>
            </a:r>
            <a:r>
              <a:rPr dirty="0" err="1"/>
              <a:t>dibuat</a:t>
            </a:r>
            <a:r>
              <a:rPr dirty="0"/>
              <a:t> DI LUAR class Laptop, </a:t>
            </a:r>
            <a:r>
              <a:rPr dirty="0" err="1"/>
              <a:t>lalu</a:t>
            </a:r>
            <a:r>
              <a:rPr dirty="0"/>
              <a:t> di-inject </a:t>
            </a:r>
            <a:r>
              <a:rPr dirty="0" err="1"/>
              <a:t>lewat</a:t>
            </a:r>
            <a:r>
              <a:rPr dirty="0"/>
              <a:t> </a:t>
            </a:r>
            <a:r>
              <a:rPr dirty="0" err="1"/>
              <a:t>setCPU</a:t>
            </a:r>
            <a:r>
              <a:rPr dirty="0"/>
              <a:t>() — </a:t>
            </a:r>
            <a:r>
              <a:rPr dirty="0" err="1"/>
              <a:t>bukan</a:t>
            </a:r>
            <a:r>
              <a:rPr dirty="0"/>
              <a:t> di-new </a:t>
            </a:r>
            <a:r>
              <a:rPr dirty="0" err="1"/>
              <a:t>langsung</a:t>
            </a:r>
            <a:r>
              <a:rPr dirty="0"/>
              <a:t> di </a:t>
            </a:r>
            <a:r>
              <a:rPr dirty="0" err="1"/>
              <a:t>dalam</a:t>
            </a:r>
            <a:r>
              <a:rPr dirty="0"/>
              <a:t> Laptop.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Menjalankan: TestLaptop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6035040" cy="356616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 err="1">
                <a:solidFill>
                  <a:srgbClr val="0B1F33"/>
                </a:solidFill>
                <a:latin typeface="Consolas"/>
              </a:rPr>
              <a:t>TestLaptop</a:t>
            </a:r>
            <a:endParaRPr sz="135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static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main(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[] </a:t>
            </a:r>
            <a:r>
              <a:rPr sz="1350" dirty="0" err="1">
                <a:solidFill>
                  <a:srgbClr val="0B1F33"/>
                </a:solidFill>
                <a:latin typeface="Consolas"/>
              </a:rPr>
              <a:t>args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Processor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>
                <a:solidFill>
                  <a:srgbClr val="B45908"/>
                </a:solidFill>
                <a:latin typeface="Consolas"/>
              </a:rPr>
              <a:t>proc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Processor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proc</a:t>
            </a:r>
            <a:r>
              <a:rPr sz="13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setMerek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50" dirty="0">
                <a:solidFill>
                  <a:srgbClr val="188038"/>
                </a:solidFill>
                <a:latin typeface="Consolas"/>
              </a:rPr>
              <a:t>"Intel Core i7"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proc</a:t>
            </a:r>
            <a:r>
              <a:rPr sz="13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setFrekuensi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50" dirty="0">
                <a:solidFill>
                  <a:srgbClr val="1A73E8"/>
                </a:solidFill>
                <a:latin typeface="Consolas"/>
              </a:rPr>
              <a:t>2400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Laptop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>
                <a:solidFill>
                  <a:srgbClr val="B45908"/>
                </a:solidFill>
                <a:latin typeface="Consolas"/>
              </a:rPr>
              <a:t>lap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50" dirty="0">
                <a:solidFill>
                  <a:srgbClr val="9334E6"/>
                </a:solidFill>
                <a:latin typeface="Consolas"/>
              </a:rPr>
              <a:t>Laptop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3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setMerek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50" dirty="0">
                <a:solidFill>
                  <a:srgbClr val="188038"/>
                </a:solidFill>
                <a:latin typeface="Consolas"/>
              </a:rPr>
              <a:t>"Asus"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3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setCPU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50" dirty="0">
                <a:solidFill>
                  <a:srgbClr val="B45908"/>
                </a:solidFill>
                <a:latin typeface="Consolas"/>
              </a:rPr>
              <a:t>proc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35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350" dirty="0" err="1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3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5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06060"/>
                </a:solidFill>
              </a:defRPr>
            </a:pPr>
            <a:r>
              <a:t>Output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0"/>
            <a:ext cx="603504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G:\Java&gt;java </a:t>
            </a:r>
            <a:r>
              <a:rPr sz="1300" dirty="0" err="1">
                <a:solidFill>
                  <a:srgbClr val="0B1F33"/>
                </a:solidFill>
                <a:latin typeface="Consolas"/>
              </a:rPr>
              <a:t>TestLaptop</a:t>
            </a:r>
            <a:endParaRPr sz="130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Merek laptop: Asus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Merek processor: Intel Core i7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dirty="0" err="1">
                <a:solidFill>
                  <a:srgbClr val="0B1F33"/>
                </a:solidFill>
                <a:latin typeface="Consolas"/>
              </a:rPr>
              <a:t>Frekuensi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processor: 2400.0 GHz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463040"/>
            <a:ext cx="4754880" cy="21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Langkah: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1. Buat </a:t>
            </a:r>
            <a:r>
              <a:rPr dirty="0" err="1"/>
              <a:t>objek</a:t>
            </a:r>
            <a:r>
              <a:rPr dirty="0"/>
              <a:t> </a:t>
            </a:r>
            <a:r>
              <a:rPr dirty="0">
                <a:latin typeface="Consolas" panose="020B0609020204030204" pitchFamily="49" charset="0"/>
              </a:rPr>
              <a:t>Processor</a:t>
            </a:r>
            <a:r>
              <a:rPr dirty="0"/>
              <a:t>, </a:t>
            </a:r>
            <a:r>
              <a:rPr dirty="0" err="1"/>
              <a:t>isi</a:t>
            </a:r>
            <a:r>
              <a:rPr dirty="0"/>
              <a:t> </a:t>
            </a:r>
            <a:r>
              <a:rPr dirty="0" err="1"/>
              <a:t>datanya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2. Buat </a:t>
            </a:r>
            <a:r>
              <a:rPr dirty="0" err="1"/>
              <a:t>objek</a:t>
            </a:r>
            <a:r>
              <a:rPr dirty="0"/>
              <a:t> 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Laptop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Hubungkan</a:t>
            </a:r>
            <a:r>
              <a:rPr dirty="0"/>
              <a:t>: 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lap.setCPU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(proc)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4. 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lap.tampilkanInfo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() </a:t>
            </a:r>
            <a:r>
              <a:rPr dirty="0" err="1"/>
              <a:t>otomatis</a:t>
            </a:r>
            <a:r>
              <a:rPr lang="en-US" dirty="0"/>
              <a:t> </a:t>
            </a:r>
            <a:r>
              <a:rPr dirty="0" err="1"/>
              <a:t>memanggil</a:t>
            </a:r>
            <a:r>
              <a:rPr dirty="0"/>
              <a:t> 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CPU.tampilkanInfo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r>
              <a:rPr lang="en-US" sz="17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dirty="0"/>
              <a:t>→ </a:t>
            </a:r>
            <a:r>
              <a:rPr dirty="0" err="1"/>
              <a:t>delegasi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</a:t>
            </a:r>
            <a:r>
              <a:rPr dirty="0" err="1"/>
              <a:t>objek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Mengakses Atribut Bertingkat (Chaining)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1005840"/>
            <a:ext cx="8686800" cy="283464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TestLaptop</a:t>
            </a:r>
            <a:endParaRPr sz="110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static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main(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[] 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args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Processor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>
                <a:solidFill>
                  <a:srgbClr val="B45908"/>
                </a:solidFill>
                <a:latin typeface="Consolas"/>
              </a:rPr>
              <a:t>proc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Processor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proc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setMerek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100" dirty="0">
                <a:solidFill>
                  <a:srgbClr val="188038"/>
                </a:solidFill>
                <a:latin typeface="Consolas"/>
              </a:rPr>
              <a:t>"Intel Core i7"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proc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setFrekuensi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100" dirty="0">
                <a:solidFill>
                  <a:srgbClr val="1A73E8"/>
                </a:solidFill>
                <a:latin typeface="Consolas"/>
              </a:rPr>
              <a:t>2400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Laptop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>
                <a:solidFill>
                  <a:srgbClr val="B45908"/>
                </a:solidFill>
                <a:latin typeface="Consolas"/>
              </a:rPr>
              <a:t>lap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100" dirty="0">
                <a:solidFill>
                  <a:srgbClr val="9334E6"/>
                </a:solidFill>
                <a:latin typeface="Consolas"/>
              </a:rPr>
              <a:t>Laptop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setMerek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100" dirty="0">
                <a:solidFill>
                  <a:srgbClr val="188038"/>
                </a:solidFill>
                <a:latin typeface="Consolas"/>
              </a:rPr>
              <a:t>"Asus"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setCPU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100" dirty="0">
                <a:solidFill>
                  <a:srgbClr val="B45908"/>
                </a:solidFill>
                <a:latin typeface="Consolas"/>
              </a:rPr>
              <a:t>proc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100" dirty="0">
                <a:solidFill>
                  <a:srgbClr val="188038"/>
                </a:solidFill>
                <a:latin typeface="Consolas"/>
              </a:rPr>
              <a:t>"Laptop Merek "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getMerek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());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100" dirty="0">
                <a:solidFill>
                  <a:srgbClr val="188038"/>
                </a:solidFill>
                <a:latin typeface="Consolas"/>
              </a:rPr>
              <a:t>"dengan processor "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1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getCPU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().</a:t>
            </a:r>
            <a:r>
              <a:rPr sz="1100" dirty="0" err="1">
                <a:solidFill>
                  <a:srgbClr val="B45908"/>
                </a:solidFill>
                <a:latin typeface="Consolas"/>
              </a:rPr>
              <a:t>getMerek</a:t>
            </a:r>
            <a:r>
              <a:rPr sz="1100" dirty="0">
                <a:solidFill>
                  <a:srgbClr val="0B1F33"/>
                </a:solidFill>
                <a:latin typeface="Consolas"/>
              </a:rPr>
              <a:t>());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4100513"/>
            <a:ext cx="11064240" cy="2085974"/>
          </a:xfrm>
          <a:prstGeom prst="roundRect">
            <a:avLst/>
          </a:prstGeom>
          <a:solidFill>
            <a:srgbClr val="FFECE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C00000"/>
                </a:solidFill>
              </a:defRPr>
            </a:pPr>
            <a:r>
              <a:rPr dirty="0"/>
              <a:t>⚠ Dua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lap.getCPU</a:t>
            </a:r>
            <a:r>
              <a:rPr dirty="0"/>
              <a:t>().</a:t>
            </a:r>
            <a:r>
              <a:rPr dirty="0" err="1"/>
              <a:t>getMerek</a:t>
            </a:r>
            <a:r>
              <a:rPr dirty="0"/>
              <a:t>():</a:t>
            </a:r>
          </a:p>
          <a:p>
            <a:pPr>
              <a:spcAft>
                <a:spcPts val="600"/>
              </a:spcAft>
              <a:defRPr sz="1500" b="0">
                <a:solidFill>
                  <a:srgbClr val="202020"/>
                </a:solidFill>
              </a:defRPr>
            </a:pPr>
            <a:r>
              <a:rPr dirty="0"/>
              <a:t>1. Jika </a:t>
            </a:r>
            <a:r>
              <a:rPr dirty="0" err="1">
                <a:latin typeface="Consolas" panose="020B0609020204030204" pitchFamily="49" charset="0"/>
              </a:rPr>
              <a:t>getCPU</a:t>
            </a:r>
            <a:r>
              <a:rPr dirty="0">
                <a:latin typeface="Consolas" panose="020B0609020204030204" pitchFamily="49" charset="0"/>
              </a:rPr>
              <a:t>() </a:t>
            </a:r>
            <a:r>
              <a:rPr dirty="0" err="1"/>
              <a:t>mengembalikan</a:t>
            </a:r>
            <a:r>
              <a:rPr dirty="0"/>
              <a:t> null, baris ini CRASH (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NullPointerException</a:t>
            </a:r>
            <a:r>
              <a:rPr dirty="0"/>
              <a:t>).</a:t>
            </a:r>
          </a:p>
          <a:p>
            <a:pPr>
              <a:spcAft>
                <a:spcPts val="600"/>
              </a:spcAft>
              <a:defRPr sz="1500" b="0">
                <a:solidFill>
                  <a:srgbClr val="202020"/>
                </a:solidFill>
              </a:defRPr>
            </a:pPr>
            <a:r>
              <a:rPr dirty="0"/>
              <a:t>2. Kode LUAR bisa </a:t>
            </a:r>
            <a:r>
              <a:rPr dirty="0" err="1"/>
              <a:t>menembus</a:t>
            </a:r>
            <a:r>
              <a:rPr dirty="0"/>
              <a:t> ke CPU dan </a:t>
            </a:r>
            <a:r>
              <a:rPr dirty="0" err="1"/>
              <a:t>mengubahnya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, </a:t>
            </a:r>
            <a:r>
              <a:rPr dirty="0" err="1"/>
              <a:t>misalnya</a:t>
            </a:r>
            <a:r>
              <a:rPr dirty="0"/>
              <a:t>: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lap.getCPU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setFrekuensi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(9999); </a:t>
            </a:r>
            <a:r>
              <a:rPr dirty="0"/>
              <a:t> </a:t>
            </a:r>
            <a:r>
              <a:rPr i="1" dirty="0">
                <a:solidFill>
                  <a:srgbClr val="FF0000"/>
                </a:solidFill>
              </a:rPr>
              <a:t>← Laptop </a:t>
            </a:r>
            <a:r>
              <a:rPr i="1" dirty="0" err="1">
                <a:solidFill>
                  <a:srgbClr val="FF0000"/>
                </a:solidFill>
              </a:rPr>
              <a:t>tidak</a:t>
            </a:r>
            <a:r>
              <a:rPr i="1" dirty="0">
                <a:solidFill>
                  <a:srgbClr val="FF0000"/>
                </a:solidFill>
              </a:rPr>
              <a:t> </a:t>
            </a:r>
            <a:r>
              <a:rPr i="1" dirty="0" err="1">
                <a:solidFill>
                  <a:srgbClr val="FF0000"/>
                </a:solidFill>
              </a:rPr>
              <a:t>pernah</a:t>
            </a:r>
            <a:r>
              <a:rPr i="1" dirty="0">
                <a:solidFill>
                  <a:srgbClr val="FF0000"/>
                </a:solidFill>
              </a:rPr>
              <a:t> </a:t>
            </a:r>
            <a:r>
              <a:rPr i="1" dirty="0" err="1">
                <a:solidFill>
                  <a:srgbClr val="FF0000"/>
                </a:solidFill>
              </a:rPr>
              <a:t>tahu</a:t>
            </a:r>
            <a:r>
              <a:rPr i="1" dirty="0">
                <a:solidFill>
                  <a:srgbClr val="FF0000"/>
                </a:solidFill>
              </a:rPr>
              <a:t> ini </a:t>
            </a:r>
            <a:r>
              <a:rPr i="1" dirty="0" err="1">
                <a:solidFill>
                  <a:srgbClr val="FF0000"/>
                </a:solidFill>
              </a:rPr>
              <a:t>terjadi</a:t>
            </a:r>
            <a:r>
              <a:rPr i="1" dirty="0">
                <a:solidFill>
                  <a:srgbClr val="FF0000"/>
                </a:solidFill>
              </a:rPr>
              <a:t>!</a:t>
            </a:r>
          </a:p>
          <a:p>
            <a:pPr>
              <a:spcAft>
                <a:spcPts val="600"/>
              </a:spcAft>
              <a:defRPr sz="1500" b="0">
                <a:solidFill>
                  <a:srgbClr val="202020"/>
                </a:solidFill>
              </a:defRPr>
            </a:pPr>
            <a:r>
              <a:rPr dirty="0"/>
              <a:t>Ini </a:t>
            </a:r>
            <a:r>
              <a:rPr dirty="0" err="1"/>
              <a:t>melanggar</a:t>
            </a:r>
            <a:r>
              <a:rPr dirty="0"/>
              <a:t> </a:t>
            </a:r>
            <a:r>
              <a:rPr i="1" dirty="0"/>
              <a:t>Law of Demeter </a:t>
            </a:r>
            <a:r>
              <a:rPr dirty="0"/>
              <a:t>("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bicara</a:t>
            </a:r>
            <a:r>
              <a:rPr dirty="0"/>
              <a:t> dengan orang </a:t>
            </a:r>
            <a:r>
              <a:rPr dirty="0" err="1"/>
              <a:t>asing</a:t>
            </a:r>
            <a:r>
              <a:rPr dirty="0"/>
              <a:t>") dan</a:t>
            </a:r>
            <a:r>
              <a:rPr lang="en-US" dirty="0"/>
              <a:t> </a:t>
            </a:r>
            <a:r>
              <a:rPr dirty="0" err="1"/>
              <a:t>berisiko</a:t>
            </a:r>
            <a:r>
              <a:rPr dirty="0"/>
              <a:t> </a:t>
            </a:r>
            <a:r>
              <a:rPr i="1" dirty="0"/>
              <a:t>encapsulation leak</a:t>
            </a:r>
            <a:r>
              <a:rPr dirty="0"/>
              <a:t>. </a:t>
            </a:r>
            <a:r>
              <a:rPr dirty="0" err="1"/>
              <a:t>Solusinya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di slide </a:t>
            </a:r>
            <a:r>
              <a:rPr dirty="0" err="1"/>
              <a:t>berikutnya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7024D1-0F6B-D129-C545-10F4DDFB5C3E}"/>
              </a:ext>
            </a:extLst>
          </p:cNvPr>
          <p:cNvSpPr/>
          <p:nvPr/>
        </p:nvSpPr>
        <p:spPr>
          <a:xfrm>
            <a:off x="5772150" y="3209925"/>
            <a:ext cx="2076450" cy="21907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Mengatasi Risiko #1: NullPointerException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11535" cy="539496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❌ MASALAH (akan crash):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334E6"/>
                </a:solidFill>
                <a:latin typeface="Consolas"/>
              </a:rPr>
              <a:t>Laptop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B45908"/>
                </a:solidFill>
                <a:latin typeface="Consolas"/>
              </a:rPr>
              <a:t>lap</a:t>
            </a:r>
            <a:r>
              <a:rPr sz="1500">
                <a:solidFill>
                  <a:srgbClr val="0B1F33"/>
                </a:solidFill>
                <a:latin typeface="Consolas"/>
              </a:rPr>
              <a:t> = </a:t>
            </a:r>
            <a:r>
              <a:rPr sz="1500">
                <a:solidFill>
                  <a:srgbClr val="9334E6"/>
                </a:solidFill>
                <a:latin typeface="Consolas"/>
              </a:rPr>
              <a:t>new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9334E6"/>
                </a:solidFill>
                <a:latin typeface="Consolas"/>
              </a:rPr>
              <a:t>Laptop</a:t>
            </a:r>
            <a:r>
              <a:rPr sz="150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B45908"/>
                </a:solidFill>
                <a:latin typeface="Consolas"/>
              </a:rPr>
              <a:t>lap</a:t>
            </a:r>
            <a:r>
              <a:rPr sz="1500">
                <a:solidFill>
                  <a:srgbClr val="0B1F33"/>
                </a:solidFill>
                <a:latin typeface="Consolas"/>
              </a:rPr>
              <a:t>.</a:t>
            </a:r>
            <a:r>
              <a:rPr sz="1500">
                <a:solidFill>
                  <a:srgbClr val="B45908"/>
                </a:solidFill>
                <a:latin typeface="Consolas"/>
              </a:rPr>
              <a:t>setMerek</a:t>
            </a:r>
            <a:r>
              <a:rPr sz="1500">
                <a:solidFill>
                  <a:srgbClr val="0B1F33"/>
                </a:solidFill>
                <a:latin typeface="Consolas"/>
              </a:rPr>
              <a:t>(</a:t>
            </a:r>
            <a:r>
              <a:rPr sz="1500">
                <a:solidFill>
                  <a:srgbClr val="188038"/>
                </a:solidFill>
                <a:latin typeface="Consolas"/>
              </a:rPr>
              <a:t>"Dell"</a:t>
            </a:r>
            <a:r>
              <a:rPr sz="150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i="1">
                <a:solidFill>
                  <a:srgbClr val="80868B"/>
                </a:solidFill>
                <a:latin typeface="Consolas"/>
              </a:rPr>
              <a:t>// CPU tidak pernah di-set (masih null)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B45908"/>
                </a:solidFill>
                <a:latin typeface="Consolas"/>
              </a:rPr>
              <a:t>lap</a:t>
            </a:r>
            <a:r>
              <a:rPr sz="1500">
                <a:solidFill>
                  <a:srgbClr val="0B1F33"/>
                </a:solidFill>
                <a:latin typeface="Consolas"/>
              </a:rPr>
              <a:t>.</a:t>
            </a:r>
            <a:r>
              <a:rPr sz="150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500">
                <a:solidFill>
                  <a:srgbClr val="0B1F33"/>
                </a:solidFill>
                <a:latin typeface="Consolas"/>
              </a:rPr>
              <a:t>();  </a:t>
            </a:r>
            <a:r>
              <a:rPr sz="1500" i="1">
                <a:solidFill>
                  <a:srgbClr val="80868B"/>
                </a:solidFill>
                <a:latin typeface="Consolas"/>
              </a:rPr>
              <a:t>// CRASH! CPU.tampilkanInfo()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7B34"/>
                </a:solidFill>
                <a:latin typeface="Calibri"/>
              </a:rPr>
              <a:t>✓ SOLUSI (null check di dalam tampilkanInfo):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334E6"/>
                </a:solidFill>
                <a:latin typeface="Consolas"/>
              </a:rPr>
              <a:t>public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9334E6"/>
                </a:solidFill>
                <a:latin typeface="Consolas"/>
              </a:rPr>
              <a:t>void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500">
                <a:solidFill>
                  <a:srgbClr val="0B1F33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System.out.println(</a:t>
            </a:r>
            <a:r>
              <a:rPr sz="1500">
                <a:solidFill>
                  <a:srgbClr val="188038"/>
                </a:solidFill>
                <a:latin typeface="Consolas"/>
              </a:rPr>
              <a:t>"Merek laptop: "</a:t>
            </a:r>
            <a:r>
              <a:rPr sz="1500">
                <a:solidFill>
                  <a:srgbClr val="0B1F33"/>
                </a:solidFill>
                <a:latin typeface="Consolas"/>
              </a:rPr>
              <a:t> + </a:t>
            </a:r>
            <a:r>
              <a:rPr sz="1500">
                <a:solidFill>
                  <a:srgbClr val="9334E6"/>
                </a:solidFill>
                <a:latin typeface="Consolas"/>
              </a:rPr>
              <a:t>Merek</a:t>
            </a:r>
            <a:r>
              <a:rPr sz="150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</a:t>
            </a:r>
            <a:r>
              <a:rPr sz="1500">
                <a:solidFill>
                  <a:srgbClr val="9334E6"/>
                </a:solidFill>
                <a:latin typeface="Consolas"/>
              </a:rPr>
              <a:t>if</a:t>
            </a:r>
            <a:r>
              <a:rPr sz="1500">
                <a:solidFill>
                  <a:srgbClr val="0B1F33"/>
                </a:solidFill>
                <a:latin typeface="Consolas"/>
              </a:rPr>
              <a:t> (</a:t>
            </a:r>
            <a:r>
              <a:rPr sz="1500">
                <a:solidFill>
                  <a:srgbClr val="9334E6"/>
                </a:solidFill>
                <a:latin typeface="Consolas"/>
              </a:rPr>
              <a:t>CPU</a:t>
            </a:r>
            <a:r>
              <a:rPr sz="1500">
                <a:solidFill>
                  <a:srgbClr val="0B1F33"/>
                </a:solidFill>
                <a:latin typeface="Consolas"/>
              </a:rPr>
              <a:t> != </a:t>
            </a:r>
            <a:r>
              <a:rPr sz="1500">
                <a:solidFill>
                  <a:srgbClr val="9334E6"/>
                </a:solidFill>
                <a:latin typeface="Consolas"/>
              </a:rPr>
              <a:t>null</a:t>
            </a:r>
            <a:r>
              <a:rPr sz="1500">
                <a:solidFill>
                  <a:srgbClr val="0B1F33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  </a:t>
            </a:r>
            <a:r>
              <a:rPr sz="1500">
                <a:solidFill>
                  <a:srgbClr val="9334E6"/>
                </a:solidFill>
                <a:latin typeface="Consolas"/>
              </a:rPr>
              <a:t>CPU</a:t>
            </a:r>
            <a:r>
              <a:rPr sz="1500">
                <a:solidFill>
                  <a:srgbClr val="0B1F33"/>
                </a:solidFill>
                <a:latin typeface="Consolas"/>
              </a:rPr>
              <a:t>.</a:t>
            </a:r>
            <a:r>
              <a:rPr sz="150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50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} </a:t>
            </a:r>
            <a:r>
              <a:rPr sz="1500">
                <a:solidFill>
                  <a:srgbClr val="9334E6"/>
                </a:solidFill>
                <a:latin typeface="Consolas"/>
              </a:rPr>
              <a:t>else</a:t>
            </a:r>
            <a:r>
              <a:rPr sz="1500">
                <a:solidFill>
                  <a:srgbClr val="0B1F33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  System.out.println(</a:t>
            </a:r>
            <a:r>
              <a:rPr sz="1500">
                <a:solidFill>
                  <a:srgbClr val="188038"/>
                </a:solidFill>
                <a:latin typeface="Consolas"/>
              </a:rPr>
              <a:t>"Processor: belum terpasang"</a:t>
            </a:r>
            <a:r>
              <a:rPr sz="150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Mengatasi Risiko #2: Tell, Don't Ask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5156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Laptop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Merek: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CPU: Processor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setMerek/getMerek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setCPU/getCPU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tampilkanInfo()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overclock(): void  ← BARU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720" y="1051560"/>
          <a:ext cx="4023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Processor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Merek: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Frekuensi: double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setFrekuensi/getFrekuensi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tampilkanInfo()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886200"/>
            <a:ext cx="10881360" cy="2285999"/>
          </a:xfrm>
          <a:prstGeom prst="roundRect">
            <a:avLst/>
          </a:prstGeom>
          <a:solidFill>
            <a:srgbClr val="E8F0F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500"/>
              </a:spcAft>
              <a:defRPr sz="1700" b="1">
                <a:solidFill>
                  <a:srgbClr val="1F4E79"/>
                </a:solidFill>
                <a:latin typeface="Calibri"/>
              </a:defRPr>
            </a:pPr>
            <a:r>
              <a:rPr dirty="0"/>
              <a:t>💡 </a:t>
            </a:r>
            <a:r>
              <a:rPr dirty="0" err="1"/>
              <a:t>Prinsip</a:t>
            </a:r>
            <a:r>
              <a:rPr dirty="0"/>
              <a:t>: TELL, DON'T ASK</a:t>
            </a:r>
          </a:p>
          <a:p>
            <a:pPr>
              <a:spcAft>
                <a:spcPts val="5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Daripada</a:t>
            </a:r>
            <a:r>
              <a:rPr dirty="0"/>
              <a:t> </a:t>
            </a:r>
            <a:r>
              <a:rPr dirty="0" err="1"/>
              <a:t>kode</a:t>
            </a:r>
            <a:r>
              <a:rPr dirty="0"/>
              <a:t> </a:t>
            </a:r>
            <a:r>
              <a:rPr dirty="0" err="1"/>
              <a:t>luar</a:t>
            </a:r>
            <a:r>
              <a:rPr dirty="0"/>
              <a:t> "</a:t>
            </a:r>
            <a:r>
              <a:rPr dirty="0" err="1"/>
              <a:t>bertanya</a:t>
            </a:r>
            <a:r>
              <a:rPr dirty="0"/>
              <a:t>" (</a:t>
            </a:r>
            <a:r>
              <a:rPr dirty="0" err="1">
                <a:latin typeface="Consolas" panose="020B0609020204030204" pitchFamily="49" charset="0"/>
              </a:rPr>
              <a:t>getCPU</a:t>
            </a:r>
            <a:r>
              <a:rPr dirty="0">
                <a:latin typeface="Consolas" panose="020B0609020204030204" pitchFamily="49" charset="0"/>
              </a:rPr>
              <a:t>()</a:t>
            </a:r>
            <a:r>
              <a:rPr dirty="0"/>
              <a:t>) </a:t>
            </a:r>
            <a:r>
              <a:rPr dirty="0" err="1"/>
              <a:t>lalu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,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baik</a:t>
            </a:r>
            <a:r>
              <a:rPr lang="en-US" dirty="0"/>
              <a:t>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Laptop</a:t>
            </a:r>
            <a:r>
              <a:rPr dirty="0"/>
              <a:t> </a:t>
            </a:r>
            <a:r>
              <a:rPr dirty="0" err="1"/>
              <a:t>diberi</a:t>
            </a:r>
            <a:r>
              <a:rPr dirty="0"/>
              <a:t> "</a:t>
            </a:r>
            <a:r>
              <a:rPr dirty="0" err="1"/>
              <a:t>perintah</a:t>
            </a:r>
            <a:r>
              <a:rPr dirty="0"/>
              <a:t>" (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overclock()</a:t>
            </a:r>
            <a:r>
              <a:rPr dirty="0"/>
              <a:t>) dan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Laptop</a:t>
            </a:r>
            <a:r>
              <a:rPr dirty="0"/>
              <a:t> yang </a:t>
            </a:r>
            <a:r>
              <a:rPr dirty="0" err="1"/>
              <a:t>mengurus</a:t>
            </a:r>
            <a:r>
              <a:rPr dirty="0"/>
              <a:t> detail </a:t>
            </a:r>
            <a:r>
              <a:rPr dirty="0" err="1"/>
              <a:t>internalnya</a:t>
            </a:r>
            <a:r>
              <a:rPr dirty="0"/>
              <a:t>:</a:t>
            </a: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overclock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 {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CPU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setFrekuensi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CPU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getFrekuensi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 + </a:t>
            </a:r>
            <a:r>
              <a:rPr sz="1400" dirty="0">
                <a:solidFill>
                  <a:srgbClr val="1A73E8"/>
                </a:solidFill>
                <a:latin typeface="Consolas"/>
              </a:rPr>
              <a:t>100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); }</a:t>
            </a:r>
          </a:p>
          <a:p>
            <a:pPr>
              <a:spcAft>
                <a:spcPts val="5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Catatan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: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berarti</a:t>
            </a:r>
            <a:r>
              <a:rPr dirty="0"/>
              <a:t> chaining SELALU </a:t>
            </a:r>
            <a:r>
              <a:rPr dirty="0" err="1"/>
              <a:t>buruk</a:t>
            </a:r>
            <a:r>
              <a:rPr dirty="0"/>
              <a:t>.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Laptop</a:t>
            </a:r>
            <a:r>
              <a:rPr dirty="0"/>
              <a:t> BOLEH </a:t>
            </a:r>
            <a:r>
              <a:rPr dirty="0" err="1"/>
              <a:t>memanggil</a:t>
            </a:r>
            <a:r>
              <a:rPr lang="en-US" dirty="0"/>
              <a:t> 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CPU.setFrekuensi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() </a:t>
            </a:r>
            <a:r>
              <a:rPr dirty="0"/>
              <a:t>di </a:t>
            </a:r>
            <a:r>
              <a:rPr dirty="0" err="1"/>
              <a:t>dalam</a:t>
            </a:r>
            <a:r>
              <a:rPr dirty="0"/>
              <a:t> method-</a:t>
            </a:r>
            <a:r>
              <a:rPr dirty="0" err="1"/>
              <a:t>nya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 di </a:t>
            </a:r>
            <a:r>
              <a:rPr dirty="0" err="1"/>
              <a:t>dalam</a:t>
            </a:r>
            <a:r>
              <a:rPr dirty="0"/>
              <a:t> batas class-</a:t>
            </a:r>
            <a:r>
              <a:rPr dirty="0" err="1"/>
              <a:t>nya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rPr dirty="0"/>
              <a:t>Yang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dihindari</a:t>
            </a:r>
            <a:r>
              <a:rPr dirty="0"/>
              <a:t>: KODE DI LUAR class </a:t>
            </a:r>
            <a:r>
              <a:rPr sz="1500" dirty="0">
                <a:solidFill>
                  <a:srgbClr val="202020"/>
                </a:solidFill>
                <a:latin typeface="Consolas" panose="020B0609020204030204" pitchFamily="49" charset="0"/>
              </a:rPr>
              <a:t>Laptop</a:t>
            </a:r>
            <a:r>
              <a:rPr dirty="0"/>
              <a:t> yang </a:t>
            </a:r>
            <a:r>
              <a:rPr dirty="0" err="1"/>
              <a:t>menembus</a:t>
            </a:r>
            <a:r>
              <a:rPr dirty="0"/>
              <a:t> ke CPU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Uses-A dalam Kode: Laptop Memakai Printer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Printer BUKAN atribut Laptop — hanya lewat sebagai parameter method → USES-A.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402336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Printer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Printer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merek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) {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merek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;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cetak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namaFile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00" dirty="0">
                <a:solidFill>
                  <a:srgbClr val="188038"/>
                </a:solidFill>
                <a:latin typeface="Consolas"/>
              </a:rPr>
              <a:t>"</a:t>
            </a:r>
            <a:r>
              <a:rPr sz="1300" dirty="0" err="1">
                <a:solidFill>
                  <a:srgbClr val="188038"/>
                </a:solidFill>
                <a:latin typeface="Consolas"/>
              </a:rPr>
              <a:t>Mencetak</a:t>
            </a:r>
            <a:r>
              <a:rPr sz="1300" dirty="0">
                <a:solidFill>
                  <a:srgbClr val="188038"/>
                </a:solidFill>
                <a:latin typeface="Consolas"/>
              </a:rPr>
              <a:t> "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namaFile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300" dirty="0">
                <a:solidFill>
                  <a:srgbClr val="188038"/>
                </a:solidFill>
                <a:latin typeface="Consolas"/>
              </a:rPr>
              <a:t>" di "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Merek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i="1" dirty="0">
                <a:solidFill>
                  <a:srgbClr val="80868B"/>
                </a:solidFill>
                <a:latin typeface="Consolas"/>
              </a:rPr>
              <a:t>// Method baru di </a:t>
            </a:r>
            <a:r>
              <a:rPr lang="en-US" sz="1300" i="1" dirty="0">
                <a:solidFill>
                  <a:srgbClr val="80868B"/>
                </a:solidFill>
                <a:latin typeface="Consolas"/>
              </a:rPr>
              <a:t>class </a:t>
            </a:r>
            <a:r>
              <a:rPr sz="1300" i="1" dirty="0">
                <a:solidFill>
                  <a:srgbClr val="80868B"/>
                </a:solidFill>
                <a:latin typeface="Consolas"/>
              </a:rPr>
              <a:t>Laptop — TIDAK </a:t>
            </a:r>
            <a:r>
              <a:rPr sz="1300" i="1" dirty="0" err="1">
                <a:solidFill>
                  <a:srgbClr val="80868B"/>
                </a:solidFill>
                <a:latin typeface="Consolas"/>
              </a:rPr>
              <a:t>ada</a:t>
            </a:r>
            <a:r>
              <a:rPr sz="1300" i="1" dirty="0">
                <a:solidFill>
                  <a:srgbClr val="80868B"/>
                </a:solidFill>
                <a:latin typeface="Consolas"/>
              </a:rPr>
              <a:t> field Printer!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cetakDokumen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Printer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B45908"/>
                </a:solidFill>
                <a:latin typeface="Consolas"/>
              </a:rPr>
              <a:t>p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namaFile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p</a:t>
            </a:r>
            <a:r>
              <a:rPr sz="13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cetak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namaFile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0B1F3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lang="en-US" sz="1300" dirty="0">
              <a:latin typeface="Consolas"/>
            </a:endParaRPr>
          </a:p>
          <a:p>
            <a:pPr>
              <a:spcAft>
                <a:spcPts val="200"/>
              </a:spcAft>
            </a:pPr>
            <a:r>
              <a:rPr lang="id-ID" sz="1300" i="1" dirty="0">
                <a:solidFill>
                  <a:srgbClr val="80868B"/>
                </a:solidFill>
                <a:latin typeface="Consolas"/>
              </a:rPr>
              <a:t>// </a:t>
            </a:r>
            <a:r>
              <a:rPr lang="en-US" sz="1300" i="1" dirty="0" err="1">
                <a:solidFill>
                  <a:srgbClr val="80868B"/>
                </a:solidFill>
                <a:latin typeface="Consolas"/>
              </a:rPr>
              <a:t>tambahan</a:t>
            </a:r>
            <a:r>
              <a:rPr lang="en-US" sz="1300" i="1" dirty="0">
                <a:solidFill>
                  <a:srgbClr val="80868B"/>
                </a:solidFill>
                <a:latin typeface="Consolas"/>
              </a:rPr>
              <a:t> di class </a:t>
            </a:r>
            <a:r>
              <a:rPr lang="en-US" sz="1300" i="1" dirty="0" err="1">
                <a:solidFill>
                  <a:srgbClr val="80868B"/>
                </a:solidFill>
                <a:latin typeface="Consolas"/>
              </a:rPr>
              <a:t>TestLaptop</a:t>
            </a:r>
            <a:r>
              <a:rPr lang="id-ID" sz="1300" i="1" dirty="0">
                <a:solidFill>
                  <a:srgbClr val="80868B"/>
                </a:solidFill>
                <a:latin typeface="Consolas"/>
              </a:rPr>
              <a:t> — </a:t>
            </a:r>
            <a:r>
              <a:rPr lang="en-US" sz="1300" i="1" dirty="0">
                <a:solidFill>
                  <a:srgbClr val="80868B"/>
                </a:solidFill>
                <a:latin typeface="Consolas"/>
              </a:rPr>
              <a:t>buat </a:t>
            </a:r>
            <a:r>
              <a:rPr lang="en-US" sz="1300" i="1" dirty="0" err="1">
                <a:solidFill>
                  <a:srgbClr val="80868B"/>
                </a:solidFill>
                <a:latin typeface="Consolas"/>
              </a:rPr>
              <a:t>objek</a:t>
            </a:r>
            <a:r>
              <a:rPr lang="en-US" sz="1300" i="1" dirty="0">
                <a:solidFill>
                  <a:srgbClr val="80868B"/>
                </a:solidFill>
                <a:latin typeface="Consolas"/>
              </a:rPr>
              <a:t> printer dan passing </a:t>
            </a:r>
            <a:r>
              <a:rPr lang="en-US" sz="1300" i="1" dirty="0" err="1">
                <a:solidFill>
                  <a:srgbClr val="80868B"/>
                </a:solidFill>
                <a:latin typeface="Consolas"/>
              </a:rPr>
              <a:t>saat</a:t>
            </a:r>
            <a:r>
              <a:rPr lang="en-US" sz="1300" i="1" dirty="0">
                <a:solidFill>
                  <a:srgbClr val="80868B"/>
                </a:solidFill>
                <a:latin typeface="Consolas"/>
              </a:rPr>
              <a:t> </a:t>
            </a:r>
            <a:r>
              <a:rPr lang="en-US" sz="1300" i="1" dirty="0" err="1">
                <a:solidFill>
                  <a:srgbClr val="80868B"/>
                </a:solidFill>
                <a:latin typeface="Consolas"/>
              </a:rPr>
              <a:t>memanggil</a:t>
            </a:r>
            <a:r>
              <a:rPr lang="en-US" sz="1300" i="1" dirty="0">
                <a:solidFill>
                  <a:srgbClr val="80868B"/>
                </a:solidFill>
                <a:latin typeface="Consolas"/>
              </a:rPr>
              <a:t> </a:t>
            </a:r>
            <a:r>
              <a:rPr lang="en-US" sz="1300" i="1" dirty="0" err="1">
                <a:solidFill>
                  <a:srgbClr val="80868B"/>
                </a:solidFill>
                <a:latin typeface="Consolas"/>
              </a:rPr>
              <a:t>cetakDokumen</a:t>
            </a:r>
            <a:endParaRPr sz="1300" dirty="0"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>
                <a:solidFill>
                  <a:srgbClr val="9334E6"/>
                </a:solidFill>
                <a:latin typeface="Consolas"/>
              </a:rPr>
              <a:t>Printer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B45908"/>
                </a:solidFill>
                <a:latin typeface="Consolas"/>
              </a:rPr>
              <a:t>prn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300" dirty="0">
                <a:solidFill>
                  <a:srgbClr val="9334E6"/>
                </a:solidFill>
                <a:latin typeface="Consolas"/>
              </a:rPr>
              <a:t>Printer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00" dirty="0">
                <a:solidFill>
                  <a:srgbClr val="188038"/>
                </a:solidFill>
                <a:latin typeface="Consolas"/>
              </a:rPr>
              <a:t>"Epson L120"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dirty="0" err="1">
                <a:solidFill>
                  <a:srgbClr val="B45908"/>
                </a:solidFill>
                <a:latin typeface="Consolas"/>
              </a:rPr>
              <a:t>lap</a:t>
            </a:r>
            <a:r>
              <a:rPr sz="13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300" dirty="0" err="1">
                <a:solidFill>
                  <a:srgbClr val="B45908"/>
                </a:solidFill>
                <a:latin typeface="Consolas"/>
              </a:rPr>
              <a:t>cetakDokumen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300" dirty="0">
                <a:solidFill>
                  <a:srgbClr val="B45908"/>
                </a:solidFill>
                <a:latin typeface="Consolas"/>
              </a:rPr>
              <a:t>prn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300" dirty="0">
                <a:solidFill>
                  <a:srgbClr val="188038"/>
                </a:solidFill>
                <a:latin typeface="Consolas"/>
              </a:rPr>
              <a:t>"laporan.pdf"</a:t>
            </a:r>
            <a:r>
              <a:rPr sz="13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i="1" dirty="0">
                <a:solidFill>
                  <a:srgbClr val="80868B"/>
                </a:solidFill>
                <a:latin typeface="Consolas"/>
              </a:rPr>
              <a:t>// Output: </a:t>
            </a:r>
            <a:r>
              <a:rPr sz="1300" i="1" dirty="0" err="1">
                <a:solidFill>
                  <a:srgbClr val="80868B"/>
                </a:solidFill>
                <a:latin typeface="Consolas"/>
              </a:rPr>
              <a:t>Mencetak</a:t>
            </a:r>
            <a:r>
              <a:rPr sz="1300" i="1" dirty="0">
                <a:solidFill>
                  <a:srgbClr val="80868B"/>
                </a:solidFill>
                <a:latin typeface="Consolas"/>
              </a:rPr>
              <a:t> laporan.pdf di Epson L120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" y="5677760"/>
            <a:ext cx="10911535" cy="538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Catatan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: </a:t>
            </a:r>
            <a:r>
              <a:rPr dirty="0" err="1"/>
              <a:t>jika</a:t>
            </a:r>
            <a:r>
              <a:rPr dirty="0"/>
              <a:t> Laptop SERING </a:t>
            </a:r>
            <a:r>
              <a:rPr dirty="0" err="1"/>
              <a:t>mencetak</a:t>
            </a:r>
            <a:r>
              <a:rPr dirty="0"/>
              <a:t> ke printer yang SAMA, </a:t>
            </a:r>
            <a:r>
              <a:rPr dirty="0" err="1"/>
              <a:t>pertimbangkan</a:t>
            </a:r>
            <a:r>
              <a:rPr lang="en-US" dirty="0"/>
              <a:t>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field (Has-A). </a:t>
            </a:r>
            <a:r>
              <a:rPr dirty="0">
                <a:highlight>
                  <a:srgbClr val="FFFF00"/>
                </a:highlight>
              </a:rPr>
              <a:t>Uses-A </a:t>
            </a:r>
            <a:r>
              <a:rPr dirty="0" err="1">
                <a:highlight>
                  <a:srgbClr val="FFFF00"/>
                </a:highlight>
              </a:rPr>
              <a:t>cocok</a:t>
            </a:r>
            <a:r>
              <a:rPr dirty="0">
                <a:highlight>
                  <a:srgbClr val="FFFF00"/>
                </a:highlight>
              </a:rPr>
              <a:t> untuk </a:t>
            </a:r>
            <a:r>
              <a:rPr dirty="0" err="1">
                <a:highlight>
                  <a:srgbClr val="FFFF00"/>
                </a:highlight>
              </a:rPr>
              <a:t>pemakaian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insidental</a:t>
            </a:r>
            <a:r>
              <a:rPr dirty="0">
                <a:highlight>
                  <a:srgbClr val="FFFF00"/>
                </a:highlight>
              </a:rPr>
              <a:t> saja.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rPr dirty="0"/>
              <a:t>Studi </a:t>
            </a:r>
            <a:r>
              <a:rPr dirty="0" err="1"/>
              <a:t>Kasus</a:t>
            </a:r>
            <a:r>
              <a:rPr dirty="0"/>
              <a:t> 2: </a:t>
            </a:r>
            <a:r>
              <a:rPr dirty="0" err="1"/>
              <a:t>Karakter</a:t>
            </a:r>
            <a:r>
              <a:rPr dirty="0"/>
              <a:t> </a:t>
            </a:r>
            <a:r>
              <a:rPr lang="id-ID" dirty="0"/>
              <a:t>◇</a:t>
            </a:r>
            <a:r>
              <a:rPr dirty="0"/>
              <a:t> </a:t>
            </a:r>
            <a:r>
              <a:rPr dirty="0" err="1"/>
              <a:t>Senjata</a:t>
            </a:r>
            <a:r>
              <a:rPr dirty="0"/>
              <a:t>[] (Array of Object)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776295"/>
              </p:ext>
            </p:extLst>
          </p:nvPr>
        </p:nvGraphicFramePr>
        <p:xfrm>
          <a:off x="640080" y="1554480"/>
          <a:ext cx="356044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Karakter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Nama: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SenjataTerpasang: Senjata[]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getNama(): String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setNama</a:t>
                      </a:r>
                      <a:r>
                        <a:rPr dirty="0"/>
                        <a:t>(String </a:t>
                      </a:r>
                      <a:r>
                        <a:rPr dirty="0" err="1"/>
                        <a:t>nam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getSenjataTerpasang(): Senjata[]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setSenjataTerpasang(Senjata[] sjt)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tampilkanInfo</a:t>
                      </a:r>
                      <a:r>
                        <a:rPr dirty="0"/>
                        <a:t>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824060"/>
              </p:ext>
            </p:extLst>
          </p:nvPr>
        </p:nvGraphicFramePr>
        <p:xfrm>
          <a:off x="7023735" y="1441141"/>
          <a:ext cx="383476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rPr dirty="0" err="1"/>
                        <a:t>Senjata</a:t>
                      </a:r>
                      <a:endParaRPr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Nama: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Kekuatan: int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Senjata(nama: String, kekuatan: int)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getNama(): String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setNama(String nam)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getKekuatan(): 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setKekuatan(kek: int)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tampilkanInfo</a:t>
                      </a:r>
                      <a:r>
                        <a:rPr dirty="0"/>
                        <a:t>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79" y="5577840"/>
            <a:ext cx="10911535" cy="9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Atribut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 bisa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→ </a:t>
            </a:r>
            <a:r>
              <a:rPr dirty="0" err="1"/>
              <a:t>gunakan</a:t>
            </a:r>
            <a:r>
              <a:rPr dirty="0"/>
              <a:t> array untuk </a:t>
            </a:r>
            <a:r>
              <a:rPr dirty="0" err="1"/>
              <a:t>menyimpannya</a:t>
            </a:r>
            <a:r>
              <a:rPr lang="en-US" dirty="0"/>
              <a:t>. </a:t>
            </a:r>
            <a:r>
              <a:rPr lang="id-ID" dirty="0">
                <a:latin typeface="Consolas" panose="020B0609020204030204" pitchFamily="49" charset="0"/>
              </a:rPr>
              <a:t>Karakter</a:t>
            </a:r>
            <a:r>
              <a:rPr lang="id-ID" dirty="0"/>
              <a:t> memiliki banyak </a:t>
            </a:r>
            <a:r>
              <a:rPr lang="id-ID" sz="1500" dirty="0">
                <a:solidFill>
                  <a:srgbClr val="202020"/>
                </a:solidFill>
                <a:latin typeface="Consolas" panose="020B0609020204030204" pitchFamily="49" charset="0"/>
              </a:rPr>
              <a:t>Senjata</a:t>
            </a:r>
            <a:r>
              <a:rPr lang="id-ID" dirty="0"/>
              <a:t> (aggregation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id-ID" dirty="0"/>
              <a:t> dibuat di luar, di-inject lewat setter).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02DF4-37F7-7399-8E13-89B5ECE35983}"/>
              </a:ext>
            </a:extLst>
          </p:cNvPr>
          <p:cNvSpPr txBox="1"/>
          <p:nvPr/>
        </p:nvSpPr>
        <p:spPr>
          <a:xfrm>
            <a:off x="3200400" y="3152775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1F4E79"/>
                </a:solidFill>
              </a:defRPr>
            </a:pPr>
            <a:r>
              <a:rPr dirty="0"/>
              <a:t>1  ◇── HAS-A ──  1..* (</a:t>
            </a:r>
            <a:r>
              <a:rPr dirty="0" err="1"/>
              <a:t>satu</a:t>
            </a:r>
            <a:r>
              <a:rPr dirty="0"/>
              <a:t> atau </a:t>
            </a:r>
            <a:r>
              <a:rPr dirty="0" err="1"/>
              <a:t>lebih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Implementasi: class Senjata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486400" cy="5303520"/>
          </a:xfrm>
          <a:prstGeom prst="roundRect">
            <a:avLst>
              <a:gd name="adj" fmla="val 11638"/>
            </a:avLst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0B1F33"/>
                </a:solidFill>
                <a:latin typeface="Consolas"/>
              </a:rPr>
              <a:t>Senjata</a:t>
            </a:r>
            <a:endParaRPr sz="105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int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Kekuatan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nam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int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kek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nam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Kekuatan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kek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getNama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setNama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B45908"/>
                </a:solidFill>
                <a:latin typeface="Consolas"/>
              </a:rPr>
              <a:t>nm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>
                <a:solidFill>
                  <a:srgbClr val="B45908"/>
                </a:solidFill>
                <a:latin typeface="Consolas"/>
              </a:rPr>
              <a:t>nm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int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getKekuatan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Kekuatan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B45908"/>
                </a:solidFill>
                <a:latin typeface="Consolas"/>
              </a:rPr>
              <a:t>setKekuatan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050" dirty="0">
                <a:solidFill>
                  <a:srgbClr val="9334E6"/>
                </a:solidFill>
                <a:latin typeface="Consolas"/>
              </a:rPr>
              <a:t>int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050" dirty="0">
                <a:solidFill>
                  <a:srgbClr val="B45908"/>
                </a:solidFill>
                <a:latin typeface="Consolas"/>
              </a:rPr>
              <a:t>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050" dirty="0" err="1">
                <a:solidFill>
                  <a:srgbClr val="9334E6"/>
                </a:solidFill>
                <a:latin typeface="Consolas"/>
              </a:rPr>
              <a:t>Kekuatan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050" dirty="0">
                <a:solidFill>
                  <a:srgbClr val="B45908"/>
                </a:solidFill>
                <a:latin typeface="Consolas"/>
              </a:rPr>
              <a:t>k</a:t>
            </a:r>
            <a:r>
              <a:rPr sz="10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22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Class </a:t>
            </a:r>
            <a:r>
              <a:rPr dirty="0" err="1">
                <a:latin typeface="Consolas" panose="020B0609020204030204" pitchFamily="49" charset="0"/>
              </a:rPr>
              <a:t>Senjata</a:t>
            </a:r>
            <a:r>
              <a:rPr dirty="0"/>
              <a:t> </a:t>
            </a:r>
            <a:r>
              <a:rPr dirty="0" err="1"/>
              <a:t>mirip</a:t>
            </a:r>
            <a:r>
              <a:rPr dirty="0"/>
              <a:t> 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Processor</a:t>
            </a:r>
            <a:r>
              <a:rPr dirty="0"/>
              <a:t>: </a:t>
            </a:r>
            <a:r>
              <a:rPr dirty="0" err="1"/>
              <a:t>berdiri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,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menyimpan</a:t>
            </a:r>
            <a:r>
              <a:rPr dirty="0"/>
              <a:t> 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Nama</a:t>
            </a:r>
            <a:r>
              <a:rPr dirty="0"/>
              <a:t> dan 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Kekuatan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Constructor 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Senjata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nam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kek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dirty="0" err="1"/>
              <a:t>memudahkan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pembuatan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 dengan data </a:t>
            </a:r>
            <a:r>
              <a:rPr dirty="0" err="1"/>
              <a:t>awal</a:t>
            </a:r>
            <a:r>
              <a:rPr dirty="0"/>
              <a:t> </a:t>
            </a:r>
            <a:r>
              <a:rPr dirty="0" err="1"/>
              <a:t>terisi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perlu</a:t>
            </a:r>
            <a:r>
              <a:rPr dirty="0"/>
              <a:t> 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setNama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r>
              <a:rPr dirty="0"/>
              <a:t>/</a:t>
            </a:r>
            <a:r>
              <a:rPr sz="1700" dirty="0" err="1">
                <a:solidFill>
                  <a:srgbClr val="202020"/>
                </a:solidFill>
                <a:latin typeface="Consolas" panose="020B0609020204030204" pitchFamily="49" charset="0"/>
              </a:rPr>
              <a:t>setKekuatan</a:t>
            </a:r>
            <a:r>
              <a:rPr sz="1700" dirty="0">
                <a:solidFill>
                  <a:srgbClr val="202020"/>
                </a:solidFill>
                <a:latin typeface="Consolas" panose="020B0609020204030204" pitchFamily="49" charset="0"/>
              </a:rPr>
              <a:t>() </a:t>
            </a:r>
            <a:r>
              <a:rPr dirty="0" err="1"/>
              <a:t>terpisah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Implementasi: class Karakter (HAS-A Senjata[])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760720" cy="5303520"/>
          </a:xfrm>
          <a:prstGeom prst="roundRect">
            <a:avLst>
              <a:gd name="adj" fmla="val 4993"/>
            </a:avLst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Karakter</a:t>
            </a:r>
            <a:endParaRPr sz="95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SenjataTerpasang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[];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getNama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setNama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</a:t>
            </a:r>
            <a:r>
              <a:rPr sz="9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nam</a:t>
            </a:r>
            <a:r>
              <a:rPr sz="9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nam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[]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getSenjataTerpasang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SenjataTerpasang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setSenjataTerpasang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[]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sjt</a:t>
            </a:r>
            <a:r>
              <a:rPr sz="9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SenjataTerpasang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sjt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tampilkanInfo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</a:t>
            </a:r>
            <a:r>
              <a:rPr sz="950" dirty="0">
                <a:solidFill>
                  <a:srgbClr val="188038"/>
                </a:solidFill>
                <a:latin typeface="Consolas"/>
              </a:rPr>
              <a:t>"\</a:t>
            </a:r>
            <a:r>
              <a:rPr sz="950" dirty="0" err="1">
                <a:solidFill>
                  <a:srgbClr val="188038"/>
                </a:solidFill>
                <a:latin typeface="Consolas"/>
              </a:rPr>
              <a:t>nNama</a:t>
            </a:r>
            <a:r>
              <a:rPr sz="950" dirty="0">
                <a:solidFill>
                  <a:srgbClr val="188038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188038"/>
                </a:solidFill>
                <a:latin typeface="Consolas"/>
              </a:rPr>
              <a:t>karakter</a:t>
            </a:r>
            <a:r>
              <a:rPr sz="950" dirty="0">
                <a:solidFill>
                  <a:srgbClr val="188038"/>
                </a:solidFill>
                <a:latin typeface="Consolas"/>
              </a:rPr>
              <a:t>: "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950" dirty="0">
                <a:solidFill>
                  <a:srgbClr val="9334E6"/>
                </a:solidFill>
                <a:latin typeface="Consolas"/>
              </a:rPr>
              <a:t>for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(</a:t>
            </a:r>
            <a:r>
              <a:rPr sz="950" dirty="0">
                <a:solidFill>
                  <a:srgbClr val="9334E6"/>
                </a:solidFill>
                <a:latin typeface="Consolas"/>
              </a:rPr>
              <a:t>int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i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950" dirty="0">
                <a:solidFill>
                  <a:srgbClr val="1A73E8"/>
                </a:solidFill>
                <a:latin typeface="Consolas"/>
              </a:rPr>
              <a:t>0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i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&lt;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SenjataTerpasang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.length</a:t>
            </a:r>
            <a:r>
              <a:rPr sz="950" dirty="0">
                <a:solidFill>
                  <a:srgbClr val="0B1F33"/>
                </a:solidFill>
                <a:latin typeface="Consolas"/>
              </a:rPr>
              <a:t>;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i</a:t>
            </a:r>
            <a:r>
              <a:rPr sz="950" dirty="0">
                <a:solidFill>
                  <a:srgbClr val="0B1F33"/>
                </a:solidFill>
                <a:latin typeface="Consolas"/>
              </a:rPr>
              <a:t>++)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   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</a:t>
            </a:r>
            <a:r>
              <a:rPr sz="950" dirty="0">
                <a:solidFill>
                  <a:srgbClr val="188038"/>
                </a:solidFill>
                <a:latin typeface="Consolas"/>
              </a:rPr>
              <a:t>"</a:t>
            </a:r>
            <a:r>
              <a:rPr sz="950" dirty="0" err="1">
                <a:solidFill>
                  <a:srgbClr val="188038"/>
                </a:solidFill>
                <a:latin typeface="Consolas"/>
              </a:rPr>
              <a:t>Senjata</a:t>
            </a:r>
            <a:r>
              <a:rPr sz="950" dirty="0">
                <a:solidFill>
                  <a:srgbClr val="188038"/>
                </a:solidFill>
                <a:latin typeface="Consolas"/>
              </a:rPr>
              <a:t> "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i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950" dirty="0">
                <a:solidFill>
                  <a:srgbClr val="188038"/>
                </a:solidFill>
                <a:latin typeface="Consolas"/>
              </a:rPr>
              <a:t>": "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+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            </a:t>
            </a:r>
            <a:r>
              <a:rPr sz="950" dirty="0" err="1">
                <a:solidFill>
                  <a:srgbClr val="9334E6"/>
                </a:solidFill>
                <a:latin typeface="Consolas"/>
              </a:rPr>
              <a:t>SenjataTerpasang</a:t>
            </a:r>
            <a:r>
              <a:rPr sz="950" dirty="0">
                <a:solidFill>
                  <a:srgbClr val="0B1F33"/>
                </a:solidFill>
                <a:latin typeface="Consolas"/>
              </a:rPr>
              <a:t>[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i</a:t>
            </a:r>
            <a:r>
              <a:rPr sz="950" dirty="0">
                <a:solidFill>
                  <a:srgbClr val="0B1F33"/>
                </a:solidFill>
                <a:latin typeface="Consolas"/>
              </a:rPr>
              <a:t>].</a:t>
            </a:r>
            <a:r>
              <a:rPr sz="950" dirty="0" err="1">
                <a:solidFill>
                  <a:srgbClr val="B45908"/>
                </a:solidFill>
                <a:latin typeface="Consolas"/>
              </a:rPr>
              <a:t>getNama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());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828800"/>
            <a:ext cx="5212080" cy="27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>
                <a:latin typeface="Consolas" panose="020B0609020204030204" pitchFamily="49" charset="0"/>
              </a:rPr>
              <a:t>private </a:t>
            </a:r>
            <a:r>
              <a:rPr dirty="0" err="1">
                <a:latin typeface="Consolas" panose="020B0609020204030204" pitchFamily="49" charset="0"/>
              </a:rPr>
              <a:t>Senjata</a:t>
            </a:r>
            <a:r>
              <a:rPr dirty="0">
                <a:latin typeface="Consolas" panose="020B0609020204030204" pitchFamily="49" charset="0"/>
              </a:rPr>
              <a:t> </a:t>
            </a:r>
            <a:r>
              <a:rPr dirty="0" err="1">
                <a:latin typeface="Consolas" panose="020B0609020204030204" pitchFamily="49" charset="0"/>
              </a:rPr>
              <a:t>SenjataTerpasang</a:t>
            </a:r>
            <a:r>
              <a:rPr dirty="0">
                <a:latin typeface="Consolas" panose="020B0609020204030204" pitchFamily="49" charset="0"/>
              </a:rPr>
              <a:t>[]</a:t>
            </a:r>
            <a:r>
              <a:rPr dirty="0"/>
              <a:t>; → array of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object: </a:t>
            </a:r>
            <a:r>
              <a:rPr dirty="0" err="1"/>
              <a:t>tiap</a:t>
            </a:r>
            <a:r>
              <a:rPr dirty="0"/>
              <a:t> </a:t>
            </a:r>
            <a:r>
              <a:rPr dirty="0" err="1"/>
              <a:t>elemen</a:t>
            </a:r>
            <a:r>
              <a:rPr dirty="0"/>
              <a:t> REFERENCE ke </a:t>
            </a:r>
            <a:r>
              <a:rPr dirty="0" err="1"/>
              <a:t>objek</a:t>
            </a:r>
            <a:r>
              <a:rPr dirty="0"/>
              <a:t> </a:t>
            </a:r>
            <a:r>
              <a:rPr sz="1500" dirty="0" err="1">
                <a:solidFill>
                  <a:srgbClr val="202020"/>
                </a:solidFill>
                <a:latin typeface="Consolas" panose="020B0609020204030204" pitchFamily="49" charset="0"/>
              </a:rPr>
              <a:t>Senjata</a:t>
            </a:r>
            <a:endParaRPr sz="15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yang </a:t>
            </a:r>
            <a:r>
              <a:rPr dirty="0" err="1"/>
              <a:t>berbeda-beda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💡 </a:t>
            </a:r>
            <a:r>
              <a:rPr dirty="0" err="1"/>
              <a:t>Tanpa</a:t>
            </a:r>
            <a:r>
              <a:rPr dirty="0"/>
              <a:t> override </a:t>
            </a:r>
            <a:r>
              <a:rPr dirty="0" err="1"/>
              <a:t>toString</a:t>
            </a:r>
            <a:r>
              <a:rPr dirty="0"/>
              <a:t>(), print </a:t>
            </a:r>
            <a:r>
              <a:rPr dirty="0" err="1"/>
              <a:t>objek</a:t>
            </a:r>
            <a:r>
              <a:rPr dirty="0"/>
              <a:t> </a:t>
            </a:r>
            <a:r>
              <a:rPr dirty="0" err="1"/>
              <a:t>langsung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/>
              <a:t>(mis. print(</a:t>
            </a:r>
            <a:r>
              <a:rPr dirty="0" err="1"/>
              <a:t>senjata</a:t>
            </a:r>
            <a:r>
              <a:rPr dirty="0"/>
              <a:t>))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tampil</a:t>
            </a:r>
            <a:r>
              <a:rPr dirty="0"/>
              <a:t> "Senjata@1b6d358"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bukan</a:t>
            </a:r>
            <a:r>
              <a:rPr dirty="0"/>
              <a:t> info </a:t>
            </a:r>
            <a:r>
              <a:rPr dirty="0" err="1"/>
              <a:t>berguna</a:t>
            </a:r>
            <a:r>
              <a:rPr dirty="0"/>
              <a:t>. Karena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dipakai</a:t>
            </a:r>
            <a:r>
              <a:rPr dirty="0"/>
              <a:t> method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rPr dirty="0" err="1">
                <a:latin typeface="Consolas" panose="020B0609020204030204" pitchFamily="49" charset="0"/>
              </a:rPr>
              <a:t>tampilkanInfo</a:t>
            </a:r>
            <a:r>
              <a:rPr dirty="0">
                <a:latin typeface="Consolas" panose="020B0609020204030204" pitchFamily="49" charset="0"/>
              </a:rPr>
              <a:t>() </a:t>
            </a:r>
            <a:r>
              <a:rPr dirty="0" err="1"/>
              <a:t>sendiri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ganti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Menjalankan: TestKarakter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57250"/>
            <a:ext cx="6583680" cy="413385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0B1F33"/>
                </a:solidFill>
                <a:latin typeface="Consolas"/>
              </a:rPr>
              <a:t>TestKarakter</a:t>
            </a:r>
            <a:endParaRPr sz="125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static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main(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[] </a:t>
            </a:r>
            <a:r>
              <a:rPr sz="1250" dirty="0" err="1">
                <a:solidFill>
                  <a:srgbClr val="0B1F33"/>
                </a:solidFill>
                <a:latin typeface="Consolas"/>
              </a:rPr>
              <a:t>args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snj1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250" dirty="0">
                <a:solidFill>
                  <a:srgbClr val="188038"/>
                </a:solidFill>
                <a:latin typeface="Consolas"/>
              </a:rPr>
              <a:t>"</a:t>
            </a:r>
            <a:r>
              <a:rPr sz="1250" dirty="0" err="1">
                <a:solidFill>
                  <a:srgbClr val="188038"/>
                </a:solidFill>
                <a:latin typeface="Consolas"/>
              </a:rPr>
              <a:t>Pedang</a:t>
            </a:r>
            <a:r>
              <a:rPr sz="1250" dirty="0">
                <a:solidFill>
                  <a:srgbClr val="188038"/>
                </a:solidFill>
                <a:latin typeface="Consolas"/>
              </a:rPr>
              <a:t>"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250" dirty="0">
                <a:solidFill>
                  <a:srgbClr val="1A73E8"/>
                </a:solidFill>
                <a:latin typeface="Consolas"/>
              </a:rPr>
              <a:t>100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snj2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250" dirty="0">
                <a:solidFill>
                  <a:srgbClr val="188038"/>
                </a:solidFill>
                <a:latin typeface="Consolas"/>
              </a:rPr>
              <a:t>"Panah"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250" dirty="0">
                <a:solidFill>
                  <a:srgbClr val="1A73E8"/>
                </a:solidFill>
                <a:latin typeface="Consolas"/>
              </a:rPr>
              <a:t>70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snj3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250" dirty="0">
                <a:solidFill>
                  <a:srgbClr val="188038"/>
                </a:solidFill>
                <a:latin typeface="Consolas"/>
              </a:rPr>
              <a:t>"</a:t>
            </a:r>
            <a:r>
              <a:rPr sz="1250" dirty="0" err="1">
                <a:solidFill>
                  <a:srgbClr val="188038"/>
                </a:solidFill>
                <a:latin typeface="Consolas"/>
              </a:rPr>
              <a:t>Pisau</a:t>
            </a:r>
            <a:r>
              <a:rPr sz="1250" dirty="0">
                <a:solidFill>
                  <a:srgbClr val="188038"/>
                </a:solidFill>
                <a:latin typeface="Consolas"/>
              </a:rPr>
              <a:t>"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250" dirty="0">
                <a:solidFill>
                  <a:srgbClr val="1A73E8"/>
                </a:solidFill>
                <a:latin typeface="Consolas"/>
              </a:rPr>
              <a:t>30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Karakter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kar1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Karakter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kar1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.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setNama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250" dirty="0">
                <a:solidFill>
                  <a:srgbClr val="188038"/>
                </a:solidFill>
                <a:latin typeface="Consolas"/>
              </a:rPr>
              <a:t>"Arjuna"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kar1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.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setSenjataTerpasang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       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[]{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snj1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snj2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} 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Karakter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kar2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Karakter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kar2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.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setNama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</a:t>
            </a:r>
            <a:r>
              <a:rPr sz="1250" dirty="0">
                <a:solidFill>
                  <a:srgbClr val="188038"/>
                </a:solidFill>
                <a:latin typeface="Consolas"/>
              </a:rPr>
              <a:t>"Kurawa"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kar2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.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setSenjataTerpasang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 </a:t>
            </a:r>
            <a:r>
              <a:rPr sz="125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9334E6"/>
                </a:solidFill>
                <a:latin typeface="Consolas"/>
              </a:rPr>
              <a:t>Senjata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[]{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snj3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} 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kar1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.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    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kar2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.</a:t>
            </a:r>
            <a:r>
              <a:rPr sz="1250" dirty="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25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463" y="4896794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06060"/>
                </a:solidFill>
              </a:defRPr>
            </a:pPr>
            <a:r>
              <a:rPr dirty="0"/>
              <a:t>Output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00650"/>
            <a:ext cx="658368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G:\Java&gt;java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TestKarakter</a:t>
            </a:r>
            <a:endParaRPr sz="95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Nama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karakter</a:t>
            </a:r>
            <a:r>
              <a:rPr sz="950" dirty="0">
                <a:solidFill>
                  <a:srgbClr val="0B1F33"/>
                </a:solidFill>
                <a:latin typeface="Consolas"/>
              </a:rPr>
              <a:t>: Arjuna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50" dirty="0" err="1">
                <a:solidFill>
                  <a:srgbClr val="0B1F33"/>
                </a:solidFill>
                <a:latin typeface="Consolas"/>
              </a:rPr>
              <a:t>Senjata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0: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Pedang</a:t>
            </a:r>
            <a:endParaRPr sz="950" dirty="0">
              <a:solidFill>
                <a:srgbClr val="0B1F33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50" dirty="0" err="1">
                <a:solidFill>
                  <a:srgbClr val="0B1F33"/>
                </a:solidFill>
                <a:latin typeface="Consolas"/>
              </a:rPr>
              <a:t>Senjata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1: Panah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50" dirty="0">
                <a:solidFill>
                  <a:srgbClr val="0B1F33"/>
                </a:solidFill>
                <a:latin typeface="Consolas"/>
              </a:rPr>
              <a:t>Nama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karakter</a:t>
            </a:r>
            <a:r>
              <a:rPr sz="950" dirty="0">
                <a:solidFill>
                  <a:srgbClr val="0B1F33"/>
                </a:solidFill>
                <a:latin typeface="Consolas"/>
              </a:rPr>
              <a:t>: Kurawa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950" dirty="0" err="1">
                <a:solidFill>
                  <a:srgbClr val="0B1F33"/>
                </a:solidFill>
                <a:latin typeface="Consolas"/>
              </a:rPr>
              <a:t>Senjata</a:t>
            </a:r>
            <a:r>
              <a:rPr sz="950" dirty="0">
                <a:solidFill>
                  <a:srgbClr val="0B1F33"/>
                </a:solidFill>
                <a:latin typeface="Consolas"/>
              </a:rPr>
              <a:t> 0: </a:t>
            </a:r>
            <a:r>
              <a:rPr sz="950" dirty="0" err="1">
                <a:solidFill>
                  <a:srgbClr val="0B1F33"/>
                </a:solidFill>
                <a:latin typeface="Consolas"/>
              </a:rPr>
              <a:t>Pisau</a:t>
            </a:r>
            <a:endParaRPr sz="950" dirty="0">
              <a:solidFill>
                <a:srgbClr val="0B1F3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4389120" cy="2519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 </a:t>
            </a:r>
            <a:r>
              <a:rPr dirty="0" err="1">
                <a:latin typeface="Consolas" panose="020B0609020204030204" pitchFamily="49" charset="0"/>
              </a:rPr>
              <a:t>Karakter</a:t>
            </a:r>
            <a:r>
              <a:rPr dirty="0"/>
              <a:t> </a:t>
            </a:r>
            <a:r>
              <a:rPr dirty="0" err="1"/>
              <a:t>memiliki</a:t>
            </a:r>
            <a:r>
              <a:rPr dirty="0"/>
              <a:t> array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sz="1600" dirty="0" err="1">
                <a:solidFill>
                  <a:srgbClr val="202020"/>
                </a:solidFill>
                <a:latin typeface="Consolas" panose="020B0609020204030204" pitchFamily="49" charset="0"/>
              </a:rPr>
              <a:t>Senjata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Arjuna dan Kurawa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saling</a:t>
            </a:r>
            <a:r>
              <a:rPr dirty="0"/>
              <a:t> </a:t>
            </a:r>
            <a:r>
              <a:rPr dirty="0" err="1"/>
              <a:t>berbagi</a:t>
            </a:r>
            <a:r>
              <a:rPr dirty="0"/>
              <a:t> </a:t>
            </a:r>
            <a:r>
              <a:rPr dirty="0" err="1"/>
              <a:t>senjata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sz="1600" dirty="0">
                <a:solidFill>
                  <a:srgbClr val="202020"/>
                </a:solidFill>
                <a:latin typeface="Consolas" panose="020B0609020204030204" pitchFamily="49" charset="0"/>
              </a:rPr>
              <a:t>new </a:t>
            </a:r>
            <a:r>
              <a:rPr sz="1600" dirty="0" err="1">
                <a:solidFill>
                  <a:srgbClr val="202020"/>
                </a:solidFill>
                <a:latin typeface="Consolas" panose="020B0609020204030204" pitchFamily="49" charset="0"/>
              </a:rPr>
              <a:t>Senjata</a:t>
            </a:r>
            <a:r>
              <a:rPr sz="1600" dirty="0">
                <a:solidFill>
                  <a:srgbClr val="202020"/>
                </a:solidFill>
                <a:latin typeface="Consolas" panose="020B0609020204030204" pitchFamily="49" charset="0"/>
              </a:rPr>
              <a:t>[]{snj1, snj2} </a:t>
            </a:r>
            <a:r>
              <a:rPr dirty="0" err="1"/>
              <a:t>membuat</a:t>
            </a:r>
            <a:r>
              <a:rPr dirty="0"/>
              <a:t> array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literal </a:t>
            </a:r>
            <a:r>
              <a:rPr dirty="0" err="1"/>
              <a:t>berisi</a:t>
            </a:r>
            <a:r>
              <a:rPr dirty="0"/>
              <a:t> REFERENCE ke </a:t>
            </a:r>
            <a:r>
              <a:rPr dirty="0" err="1"/>
              <a:t>objek</a:t>
            </a:r>
            <a:r>
              <a:rPr dirty="0"/>
              <a:t> yang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sudah </a:t>
            </a:r>
            <a:r>
              <a:rPr dirty="0" err="1"/>
              <a:t>dibuat</a:t>
            </a:r>
            <a:r>
              <a:rPr dirty="0"/>
              <a:t> </a:t>
            </a:r>
            <a:r>
              <a:rPr dirty="0" err="1"/>
              <a:t>sebelumnya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Pitfall: Array Index &amp; Elemen Belum Diisi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11535" cy="539496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❌ ArrayIndexOutOfBoundsException: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334E6"/>
                </a:solidFill>
                <a:latin typeface="Consolas"/>
              </a:rPr>
              <a:t>Senjata</a:t>
            </a:r>
            <a:r>
              <a:rPr sz="1500">
                <a:solidFill>
                  <a:srgbClr val="0B1F33"/>
                </a:solidFill>
                <a:latin typeface="Consolas"/>
              </a:rPr>
              <a:t>[] </a:t>
            </a: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 = </a:t>
            </a:r>
            <a:r>
              <a:rPr sz="1500">
                <a:solidFill>
                  <a:srgbClr val="9334E6"/>
                </a:solidFill>
                <a:latin typeface="Consolas"/>
              </a:rPr>
              <a:t>new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9334E6"/>
                </a:solidFill>
                <a:latin typeface="Consolas"/>
              </a:rPr>
              <a:t>Senjata</a:t>
            </a:r>
            <a:r>
              <a:rPr sz="1500">
                <a:solidFill>
                  <a:srgbClr val="0B1F33"/>
                </a:solidFill>
                <a:latin typeface="Consolas"/>
              </a:rPr>
              <a:t>[</a:t>
            </a:r>
            <a:r>
              <a:rPr sz="1500">
                <a:solidFill>
                  <a:srgbClr val="1A73E8"/>
                </a:solidFill>
                <a:latin typeface="Consolas"/>
              </a:rPr>
              <a:t>3</a:t>
            </a:r>
            <a:r>
              <a:rPr sz="1500">
                <a:solidFill>
                  <a:srgbClr val="0B1F33"/>
                </a:solidFill>
                <a:latin typeface="Consolas"/>
              </a:rPr>
              <a:t>];  </a:t>
            </a:r>
            <a:r>
              <a:rPr sz="1500" i="1">
                <a:solidFill>
                  <a:srgbClr val="80868B"/>
                </a:solidFill>
                <a:latin typeface="Consolas"/>
              </a:rPr>
              <a:t>// kapasitas 3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[</a:t>
            </a:r>
            <a:r>
              <a:rPr sz="1500">
                <a:solidFill>
                  <a:srgbClr val="1A73E8"/>
                </a:solidFill>
                <a:latin typeface="Consolas"/>
              </a:rPr>
              <a:t>5</a:t>
            </a:r>
            <a:r>
              <a:rPr sz="1500">
                <a:solidFill>
                  <a:srgbClr val="0B1F33"/>
                </a:solidFill>
                <a:latin typeface="Consolas"/>
              </a:rPr>
              <a:t>] = </a:t>
            </a:r>
            <a:r>
              <a:rPr sz="1500">
                <a:solidFill>
                  <a:srgbClr val="9334E6"/>
                </a:solidFill>
                <a:latin typeface="Consolas"/>
              </a:rPr>
              <a:t>new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9334E6"/>
                </a:solidFill>
                <a:latin typeface="Consolas"/>
              </a:rPr>
              <a:t>Senjata</a:t>
            </a:r>
            <a:r>
              <a:rPr sz="1500">
                <a:solidFill>
                  <a:srgbClr val="0B1F33"/>
                </a:solidFill>
                <a:latin typeface="Consolas"/>
              </a:rPr>
              <a:t>(</a:t>
            </a:r>
            <a:r>
              <a:rPr sz="1500">
                <a:solidFill>
                  <a:srgbClr val="188038"/>
                </a:solidFill>
                <a:latin typeface="Consolas"/>
              </a:rPr>
              <a:t>"Panah"</a:t>
            </a:r>
            <a:r>
              <a:rPr sz="1500">
                <a:solidFill>
                  <a:srgbClr val="0B1F33"/>
                </a:solidFill>
                <a:latin typeface="Consolas"/>
              </a:rPr>
              <a:t>, </a:t>
            </a:r>
            <a:r>
              <a:rPr sz="1500">
                <a:solidFill>
                  <a:srgbClr val="1A73E8"/>
                </a:solidFill>
                <a:latin typeface="Consolas"/>
              </a:rPr>
              <a:t>70</a:t>
            </a:r>
            <a:r>
              <a:rPr sz="1500">
                <a:solidFill>
                  <a:srgbClr val="0B1F33"/>
                </a:solidFill>
                <a:latin typeface="Consolas"/>
              </a:rPr>
              <a:t>);  </a:t>
            </a:r>
            <a:r>
              <a:rPr sz="1500" i="1">
                <a:solidFill>
                  <a:srgbClr val="80868B"/>
                </a:solidFill>
                <a:latin typeface="Consolas"/>
              </a:rPr>
              <a:t>// CRASH!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❌ Elemen array belum diisi (null):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334E6"/>
                </a:solidFill>
                <a:latin typeface="Consolas"/>
              </a:rPr>
              <a:t>Senjata</a:t>
            </a:r>
            <a:r>
              <a:rPr sz="1500">
                <a:solidFill>
                  <a:srgbClr val="0B1F33"/>
                </a:solidFill>
                <a:latin typeface="Consolas"/>
              </a:rPr>
              <a:t>[] </a:t>
            </a: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 = </a:t>
            </a:r>
            <a:r>
              <a:rPr sz="1500">
                <a:solidFill>
                  <a:srgbClr val="9334E6"/>
                </a:solidFill>
                <a:latin typeface="Consolas"/>
              </a:rPr>
              <a:t>new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9334E6"/>
                </a:solidFill>
                <a:latin typeface="Consolas"/>
              </a:rPr>
              <a:t>Senjata</a:t>
            </a:r>
            <a:r>
              <a:rPr sz="1500">
                <a:solidFill>
                  <a:srgbClr val="0B1F33"/>
                </a:solidFill>
                <a:latin typeface="Consolas"/>
              </a:rPr>
              <a:t>[</a:t>
            </a:r>
            <a:r>
              <a:rPr sz="1500">
                <a:solidFill>
                  <a:srgbClr val="1A73E8"/>
                </a:solidFill>
                <a:latin typeface="Consolas"/>
              </a:rPr>
              <a:t>3</a:t>
            </a:r>
            <a:r>
              <a:rPr sz="1500">
                <a:solidFill>
                  <a:srgbClr val="0B1F33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[</a:t>
            </a:r>
            <a:r>
              <a:rPr sz="1500">
                <a:solidFill>
                  <a:srgbClr val="1A73E8"/>
                </a:solidFill>
                <a:latin typeface="Consolas"/>
              </a:rPr>
              <a:t>0</a:t>
            </a:r>
            <a:r>
              <a:rPr sz="1500">
                <a:solidFill>
                  <a:srgbClr val="0B1F33"/>
                </a:solidFill>
                <a:latin typeface="Consolas"/>
              </a:rPr>
              <a:t>] = </a:t>
            </a:r>
            <a:r>
              <a:rPr sz="1500">
                <a:solidFill>
                  <a:srgbClr val="9334E6"/>
                </a:solidFill>
                <a:latin typeface="Consolas"/>
              </a:rPr>
              <a:t>new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9334E6"/>
                </a:solidFill>
                <a:latin typeface="Consolas"/>
              </a:rPr>
              <a:t>Senjata</a:t>
            </a:r>
            <a:r>
              <a:rPr sz="1500">
                <a:solidFill>
                  <a:srgbClr val="0B1F33"/>
                </a:solidFill>
                <a:latin typeface="Consolas"/>
              </a:rPr>
              <a:t>(</a:t>
            </a:r>
            <a:r>
              <a:rPr sz="1500">
                <a:solidFill>
                  <a:srgbClr val="188038"/>
                </a:solidFill>
                <a:latin typeface="Consolas"/>
              </a:rPr>
              <a:t>"Pedang"</a:t>
            </a:r>
            <a:r>
              <a:rPr sz="1500">
                <a:solidFill>
                  <a:srgbClr val="0B1F33"/>
                </a:solidFill>
                <a:latin typeface="Consolas"/>
              </a:rPr>
              <a:t>, </a:t>
            </a:r>
            <a:r>
              <a:rPr sz="1500">
                <a:solidFill>
                  <a:srgbClr val="1A73E8"/>
                </a:solidFill>
                <a:latin typeface="Consolas"/>
              </a:rPr>
              <a:t>100</a:t>
            </a:r>
            <a:r>
              <a:rPr sz="150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334E6"/>
                </a:solidFill>
                <a:latin typeface="Consolas"/>
              </a:rPr>
              <a:t>for</a:t>
            </a:r>
            <a:r>
              <a:rPr sz="1500">
                <a:solidFill>
                  <a:srgbClr val="0B1F33"/>
                </a:solidFill>
                <a:latin typeface="Consolas"/>
              </a:rPr>
              <a:t> (</a:t>
            </a:r>
            <a:r>
              <a:rPr sz="1500">
                <a:solidFill>
                  <a:srgbClr val="9334E6"/>
                </a:solidFill>
                <a:latin typeface="Consolas"/>
              </a:rPr>
              <a:t>int</a:t>
            </a:r>
            <a:r>
              <a:rPr sz="1500">
                <a:solidFill>
                  <a:srgbClr val="0B1F33"/>
                </a:solidFill>
                <a:latin typeface="Consolas"/>
              </a:rPr>
              <a:t> </a:t>
            </a:r>
            <a:r>
              <a:rPr sz="1500">
                <a:solidFill>
                  <a:srgbClr val="B45908"/>
                </a:solidFill>
                <a:latin typeface="Consolas"/>
              </a:rPr>
              <a:t>i</a:t>
            </a:r>
            <a:r>
              <a:rPr sz="1500">
                <a:solidFill>
                  <a:srgbClr val="0B1F33"/>
                </a:solidFill>
                <a:latin typeface="Consolas"/>
              </a:rPr>
              <a:t> = </a:t>
            </a:r>
            <a:r>
              <a:rPr sz="1500">
                <a:solidFill>
                  <a:srgbClr val="1A73E8"/>
                </a:solidFill>
                <a:latin typeface="Consolas"/>
              </a:rPr>
              <a:t>0</a:t>
            </a:r>
            <a:r>
              <a:rPr sz="1500">
                <a:solidFill>
                  <a:srgbClr val="0B1F33"/>
                </a:solidFill>
                <a:latin typeface="Consolas"/>
              </a:rPr>
              <a:t>; </a:t>
            </a:r>
            <a:r>
              <a:rPr sz="1500">
                <a:solidFill>
                  <a:srgbClr val="B45908"/>
                </a:solidFill>
                <a:latin typeface="Consolas"/>
              </a:rPr>
              <a:t>i</a:t>
            </a:r>
            <a:r>
              <a:rPr sz="1500">
                <a:solidFill>
                  <a:srgbClr val="0B1F33"/>
                </a:solidFill>
                <a:latin typeface="Consolas"/>
              </a:rPr>
              <a:t> &lt; </a:t>
            </a: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.length; </a:t>
            </a:r>
            <a:r>
              <a:rPr sz="1500">
                <a:solidFill>
                  <a:srgbClr val="B45908"/>
                </a:solidFill>
                <a:latin typeface="Consolas"/>
              </a:rPr>
              <a:t>i</a:t>
            </a:r>
            <a:r>
              <a:rPr sz="1500">
                <a:solidFill>
                  <a:srgbClr val="0B1F33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</a:t>
            </a: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[</a:t>
            </a:r>
            <a:r>
              <a:rPr sz="1500">
                <a:solidFill>
                  <a:srgbClr val="B45908"/>
                </a:solidFill>
                <a:latin typeface="Consolas"/>
              </a:rPr>
              <a:t>i</a:t>
            </a:r>
            <a:r>
              <a:rPr sz="1500">
                <a:solidFill>
                  <a:srgbClr val="0B1F33"/>
                </a:solidFill>
                <a:latin typeface="Consolas"/>
              </a:rPr>
              <a:t>].</a:t>
            </a:r>
            <a:r>
              <a:rPr sz="150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500">
                <a:solidFill>
                  <a:srgbClr val="0B1F33"/>
                </a:solidFill>
                <a:latin typeface="Consolas"/>
              </a:rPr>
              <a:t>();  </a:t>
            </a:r>
            <a:r>
              <a:rPr sz="1500" i="1">
                <a:solidFill>
                  <a:srgbClr val="80868B"/>
                </a:solidFill>
                <a:latin typeface="Consolas"/>
              </a:rPr>
              <a:t>// CRASH di i=1! (masih null)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7B34"/>
                </a:solidFill>
                <a:latin typeface="Calibri"/>
              </a:rPr>
              <a:t>✓ SOLUSI: validasi indeks &amp; null check sebelum akses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334E6"/>
                </a:solidFill>
                <a:latin typeface="Consolas"/>
              </a:rPr>
              <a:t>if</a:t>
            </a:r>
            <a:r>
              <a:rPr sz="1500">
                <a:solidFill>
                  <a:srgbClr val="0B1F33"/>
                </a:solidFill>
                <a:latin typeface="Consolas"/>
              </a:rPr>
              <a:t> (</a:t>
            </a:r>
            <a:r>
              <a:rPr sz="1500">
                <a:solidFill>
                  <a:srgbClr val="B45908"/>
                </a:solidFill>
                <a:latin typeface="Consolas"/>
              </a:rPr>
              <a:t>i</a:t>
            </a:r>
            <a:r>
              <a:rPr sz="1500">
                <a:solidFill>
                  <a:srgbClr val="0B1F33"/>
                </a:solidFill>
                <a:latin typeface="Consolas"/>
              </a:rPr>
              <a:t> &lt; </a:t>
            </a: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.length &amp;&amp; </a:t>
            </a: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[</a:t>
            </a:r>
            <a:r>
              <a:rPr sz="1500">
                <a:solidFill>
                  <a:srgbClr val="B45908"/>
                </a:solidFill>
                <a:latin typeface="Consolas"/>
              </a:rPr>
              <a:t>i</a:t>
            </a:r>
            <a:r>
              <a:rPr sz="1500">
                <a:solidFill>
                  <a:srgbClr val="0B1F33"/>
                </a:solidFill>
                <a:latin typeface="Consolas"/>
              </a:rPr>
              <a:t>] != </a:t>
            </a:r>
            <a:r>
              <a:rPr sz="1500">
                <a:solidFill>
                  <a:srgbClr val="9334E6"/>
                </a:solidFill>
                <a:latin typeface="Consolas"/>
              </a:rPr>
              <a:t>null</a:t>
            </a:r>
            <a:r>
              <a:rPr sz="1500">
                <a:solidFill>
                  <a:srgbClr val="0B1F33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  </a:t>
            </a:r>
            <a:r>
              <a:rPr sz="1500">
                <a:solidFill>
                  <a:srgbClr val="B45908"/>
                </a:solidFill>
                <a:latin typeface="Consolas"/>
              </a:rPr>
              <a:t>snj</a:t>
            </a:r>
            <a:r>
              <a:rPr sz="1500">
                <a:solidFill>
                  <a:srgbClr val="0B1F33"/>
                </a:solidFill>
                <a:latin typeface="Consolas"/>
              </a:rPr>
              <a:t>[</a:t>
            </a:r>
            <a:r>
              <a:rPr sz="1500">
                <a:solidFill>
                  <a:srgbClr val="B45908"/>
                </a:solidFill>
                <a:latin typeface="Consolas"/>
              </a:rPr>
              <a:t>i</a:t>
            </a:r>
            <a:r>
              <a:rPr sz="1500">
                <a:solidFill>
                  <a:srgbClr val="0B1F33"/>
                </a:solidFill>
                <a:latin typeface="Consolas"/>
              </a:rPr>
              <a:t>].</a:t>
            </a:r>
            <a:r>
              <a:rPr sz="150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50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Pola Defensive Programming (Rangkuman)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85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rPr dirty="0"/>
              <a:t>POLA 1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Null Checking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02020"/>
                </a:solidFill>
                <a:latin typeface="Calibri"/>
              </a:defRPr>
            </a:pPr>
            <a:r>
              <a:rPr dirty="0"/>
              <a:t>if (obj != null) { </a:t>
            </a:r>
            <a:r>
              <a:rPr dirty="0" err="1"/>
              <a:t>obj.method</a:t>
            </a:r>
            <a:r>
              <a:rPr dirty="0"/>
              <a:t>(); }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rPr dirty="0"/>
              <a:t>POLA 2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Validasi</a:t>
            </a:r>
            <a:r>
              <a:rPr dirty="0"/>
              <a:t> Batas Array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02020"/>
                </a:solidFill>
                <a:latin typeface="Calibri"/>
              </a:defRPr>
            </a:pPr>
            <a:r>
              <a:rPr dirty="0"/>
              <a:t>if (index &gt;= 0 &amp;&amp; index &lt; </a:t>
            </a:r>
            <a:r>
              <a:rPr dirty="0" err="1"/>
              <a:t>array.length</a:t>
            </a:r>
            <a:r>
              <a:rPr dirty="0"/>
              <a:t>) { ... }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rPr dirty="0"/>
              <a:t>POLA 3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Iterasi</a:t>
            </a:r>
            <a:r>
              <a:rPr dirty="0"/>
              <a:t> Aman dengan Counter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02020"/>
                </a:solidFill>
                <a:latin typeface="Calibri"/>
              </a:defRPr>
            </a:pPr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</a:t>
            </a:r>
            <a:r>
              <a:rPr dirty="0" err="1"/>
              <a:t>jumlahTerisi</a:t>
            </a:r>
            <a:r>
              <a:rPr dirty="0"/>
              <a:t>; </a:t>
            </a:r>
            <a:r>
              <a:rPr dirty="0" err="1"/>
              <a:t>i</a:t>
            </a:r>
            <a:r>
              <a:rPr dirty="0"/>
              <a:t>++) { ... }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rPr dirty="0"/>
              <a:t>POLA 4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Defensive Getter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02020"/>
                </a:solidFill>
                <a:latin typeface="Calibri"/>
              </a:defRPr>
            </a:pPr>
            <a:r>
              <a:rPr dirty="0"/>
              <a:t>if (CPU == null) throw new </a:t>
            </a:r>
            <a:r>
              <a:rPr dirty="0" err="1"/>
              <a:t>IllegalStateException</a:t>
            </a:r>
            <a:r>
              <a:rPr dirty="0"/>
              <a:t>("CPU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diset</a:t>
            </a:r>
            <a:r>
              <a:rPr dirty="0"/>
              <a:t>");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rPr dirty="0"/>
              <a:t>🎯  </a:t>
            </a:r>
            <a:r>
              <a:rPr dirty="0" err="1"/>
              <a:t>Prinsip</a:t>
            </a:r>
            <a:r>
              <a:rPr dirty="0"/>
              <a:t>: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pernah</a:t>
            </a:r>
            <a:r>
              <a:rPr dirty="0"/>
              <a:t> </a:t>
            </a:r>
            <a:r>
              <a:rPr dirty="0" err="1"/>
              <a:t>asumsikan</a:t>
            </a:r>
            <a:r>
              <a:rPr dirty="0"/>
              <a:t> data </a:t>
            </a:r>
            <a:r>
              <a:rPr dirty="0" err="1"/>
              <a:t>selalu</a:t>
            </a:r>
            <a:r>
              <a:rPr dirty="0"/>
              <a:t> valid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selalu</a:t>
            </a:r>
            <a:r>
              <a:rPr dirty="0"/>
              <a:t> </a:t>
            </a:r>
            <a:r>
              <a:rPr dirty="0" err="1"/>
              <a:t>validasi</a:t>
            </a:r>
            <a:r>
              <a:rPr dirty="0"/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Studi Kasus 3: Mahasiswa ◇ Jurusan (Aggregation)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5760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Mahasiswa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NIM: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Nama: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Jur: Jurusan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Mahasiswa(nim, nama, jur)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getNIM()/setNIM()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getNama()/setNama()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getJur()/setJur()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tampilkanInfo()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463040"/>
          <a:ext cx="4023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Jurusan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Nama: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Akreditasi: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getNama()/setNama()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getAkreditasi()/setAkreditasi()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tampilkanInfo()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26517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B86A00"/>
                </a:solidFill>
              </a:defRPr>
            </a:pPr>
            <a:r>
              <a:t>*  ◇── 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FEF3E8"/>
          </a:solidFill>
          <a:ln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450">
                <a:solidFill>
                  <a:srgbClr val="202020"/>
                </a:solidFill>
              </a:defRPr>
            </a:pPr>
            <a:r>
              <a:rPr dirty="0" err="1"/>
              <a:t>Berbeda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>
                <a:latin typeface="Consolas" panose="020B0609020204030204" pitchFamily="49" charset="0"/>
              </a:rPr>
              <a:t>Laptop–Processor</a:t>
            </a:r>
            <a:r>
              <a:rPr dirty="0"/>
              <a:t>: </a:t>
            </a:r>
            <a:r>
              <a:rPr dirty="0" err="1"/>
              <a:t>Jurusan</a:t>
            </a:r>
            <a:r>
              <a:rPr dirty="0"/>
              <a:t> </a:t>
            </a:r>
            <a:r>
              <a:rPr dirty="0" err="1"/>
              <a:t>dibuat</a:t>
            </a:r>
            <a:r>
              <a:rPr dirty="0"/>
              <a:t> TERPISAH </a:t>
            </a:r>
            <a:r>
              <a:rPr dirty="0" err="1"/>
              <a:t>lalu</a:t>
            </a:r>
            <a:r>
              <a:rPr dirty="0"/>
              <a:t> "</a:t>
            </a:r>
            <a:r>
              <a:rPr dirty="0" err="1"/>
              <a:t>dipinjamkan</a:t>
            </a:r>
            <a:r>
              <a:rPr dirty="0"/>
              <a:t>" ke </a:t>
            </a:r>
            <a:r>
              <a:rPr sz="1450" dirty="0" err="1">
                <a:solidFill>
                  <a:srgbClr val="202020"/>
                </a:solidFill>
                <a:latin typeface="Consolas" panose="020B0609020204030204" pitchFamily="49" charset="0"/>
              </a:rPr>
              <a:t>Mahasiswa</a:t>
            </a:r>
            <a:r>
              <a:rPr dirty="0"/>
              <a:t> </a:t>
            </a:r>
            <a:r>
              <a:rPr dirty="0" err="1"/>
              <a:t>lewat</a:t>
            </a:r>
            <a:r>
              <a:rPr dirty="0"/>
              <a:t> constructor. </a:t>
            </a:r>
            <a:r>
              <a:rPr sz="1450" dirty="0" err="1">
                <a:solidFill>
                  <a:srgbClr val="202020"/>
                </a:solidFill>
                <a:latin typeface="Consolas" panose="020B0609020204030204" pitchFamily="49" charset="0"/>
              </a:rPr>
              <a:t>Jurusan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</a:t>
            </a:r>
            <a:r>
              <a:rPr dirty="0" err="1"/>
              <a:t>walau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sz="1450" dirty="0" err="1">
                <a:solidFill>
                  <a:srgbClr val="202020"/>
                </a:solidFill>
                <a:latin typeface="Consolas" panose="020B0609020204030204" pitchFamily="49" charset="0"/>
              </a:rPr>
              <a:t>Mahasiswa</a:t>
            </a:r>
            <a:r>
              <a:rPr dirty="0"/>
              <a:t> </a:t>
            </a:r>
            <a:r>
              <a:rPr dirty="0" err="1"/>
              <a:t>dihapus</a:t>
            </a:r>
            <a:r>
              <a:rPr dirty="0"/>
              <a:t>, dan bisa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bersama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</a:t>
            </a:r>
            <a:r>
              <a:rPr sz="1450" dirty="0" err="1">
                <a:solidFill>
                  <a:srgbClr val="202020"/>
                </a:solidFill>
                <a:latin typeface="Consolas" panose="020B0609020204030204" pitchFamily="49" charset="0"/>
              </a:rPr>
              <a:t>Mahasiswa</a:t>
            </a:r>
            <a:r>
              <a:rPr dirty="0"/>
              <a:t> lain (multiplicity * pada </a:t>
            </a:r>
            <a:r>
              <a:rPr dirty="0" err="1"/>
              <a:t>sisi</a:t>
            </a:r>
            <a:r>
              <a:rPr dirty="0"/>
              <a:t> </a:t>
            </a:r>
            <a:r>
              <a:rPr sz="1450" dirty="0" err="1">
                <a:solidFill>
                  <a:srgbClr val="202020"/>
                </a:solidFill>
                <a:latin typeface="Consolas" panose="020B0609020204030204" pitchFamily="49" charset="0"/>
              </a:rPr>
              <a:t>Mahasiswa</a:t>
            </a:r>
            <a:r>
              <a:rPr dirty="0"/>
              <a:t>, 1 pada </a:t>
            </a:r>
            <a:r>
              <a:rPr dirty="0" err="1"/>
              <a:t>sisi</a:t>
            </a:r>
            <a:r>
              <a:rPr dirty="0"/>
              <a:t> </a:t>
            </a:r>
            <a:r>
              <a:rPr sz="1450" dirty="0" err="1">
                <a:solidFill>
                  <a:srgbClr val="202020"/>
                </a:solidFill>
                <a:latin typeface="Consolas" panose="020B0609020204030204" pitchFamily="49" charset="0"/>
              </a:rPr>
              <a:t>Jurusan</a:t>
            </a:r>
            <a:r>
              <a:rPr dirty="0"/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Implementasi: class Jurusan &amp; Mahasiswa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7345" y="1280160"/>
            <a:ext cx="5421935" cy="5303520"/>
          </a:xfrm>
          <a:prstGeom prst="roundRect">
            <a:avLst>
              <a:gd name="adj" fmla="val 16128"/>
            </a:avLst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Jurusan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Akreditasi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setNama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getNama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setAkreditasi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Akreditasi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getAkreditasi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return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Akreditasi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280160"/>
            <a:ext cx="6092190" cy="530352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class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Mahasiswa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NIM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private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Jurusan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Jur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  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// Has-A (Aggregation)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Mahasiswa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nim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String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                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Jurusan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jur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NIM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nim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Jur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jur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void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"NIM: 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NIM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"Nama: 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System.out.println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</a:t>
            </a:r>
            <a:r>
              <a:rPr sz="1400" dirty="0" err="1">
                <a:solidFill>
                  <a:srgbClr val="188038"/>
                </a:solidFill>
                <a:latin typeface="Consolas"/>
              </a:rPr>
              <a:t>Jurusan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: 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+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Jur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getNama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0B1F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Membuktikan Aggregation: Berbagi Satu Objek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6675120" cy="5394960"/>
          </a:xfrm>
          <a:prstGeom prst="roundRect">
            <a:avLst/>
          </a:prstGeom>
          <a:solidFill>
            <a:srgbClr val="F3F5F6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dirty="0" err="1">
                <a:solidFill>
                  <a:srgbClr val="9334E6"/>
                </a:solidFill>
                <a:latin typeface="Consolas"/>
              </a:rPr>
              <a:t>Jurusan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ti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Jurusan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 err="1">
                <a:solidFill>
                  <a:srgbClr val="B45908"/>
                </a:solidFill>
                <a:latin typeface="Consolas"/>
              </a:rPr>
              <a:t>ti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setNama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</a:t>
            </a:r>
            <a:r>
              <a:rPr sz="1400" dirty="0" err="1">
                <a:solidFill>
                  <a:srgbClr val="188038"/>
                </a:solidFill>
                <a:latin typeface="Consolas"/>
              </a:rPr>
              <a:t>Teknologi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188038"/>
                </a:solidFill>
                <a:latin typeface="Consolas"/>
              </a:rPr>
              <a:t>Informasi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 err="1">
                <a:solidFill>
                  <a:srgbClr val="B45908"/>
                </a:solidFill>
                <a:latin typeface="Consolas"/>
              </a:rPr>
              <a:t>ti</a:t>
            </a:r>
            <a:r>
              <a:rPr sz="1400" dirty="0" err="1">
                <a:solidFill>
                  <a:srgbClr val="0B1F33"/>
                </a:solidFill>
                <a:latin typeface="Consolas"/>
              </a:rPr>
              <a:t>.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setAkreditasi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"A"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 err="1">
                <a:solidFill>
                  <a:srgbClr val="9334E6"/>
                </a:solidFill>
                <a:latin typeface="Consolas"/>
              </a:rPr>
              <a:t>Mahasiswa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mhs1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Mahasiswa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"111001"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"Jones"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ti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 err="1">
                <a:solidFill>
                  <a:srgbClr val="9334E6"/>
                </a:solidFill>
                <a:latin typeface="Consolas"/>
              </a:rPr>
              <a:t>Mahasiswa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mhs2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= </a:t>
            </a:r>
            <a:r>
              <a:rPr sz="1400" dirty="0">
                <a:solidFill>
                  <a:srgbClr val="9334E6"/>
                </a:solidFill>
                <a:latin typeface="Consolas"/>
              </a:rPr>
              <a:t>new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9334E6"/>
                </a:solidFill>
                <a:latin typeface="Consolas"/>
              </a:rPr>
              <a:t>Mahasiswa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"111002"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400" dirty="0">
                <a:solidFill>
                  <a:srgbClr val="188038"/>
                </a:solidFill>
                <a:latin typeface="Consolas"/>
              </a:rPr>
              <a:t>"Alice"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, </a:t>
            </a:r>
            <a:r>
              <a:rPr sz="1400" dirty="0" err="1">
                <a:solidFill>
                  <a:srgbClr val="B45908"/>
                </a:solidFill>
                <a:latin typeface="Consolas"/>
              </a:rPr>
              <a:t>ti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i="1" dirty="0">
                <a:solidFill>
                  <a:srgbClr val="80868B"/>
                </a:solidFill>
                <a:latin typeface="Consolas"/>
              </a:rPr>
              <a:t>//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perhatikan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: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ti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 yang SAMA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dipakai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keduanya</a:t>
            </a:r>
            <a:endParaRPr sz="1400" i="1" dirty="0">
              <a:solidFill>
                <a:srgbClr val="80868B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B45908"/>
                </a:solidFill>
                <a:latin typeface="Consolas"/>
              </a:rPr>
              <a:t>mhs1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.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dirty="0">
                <a:solidFill>
                  <a:srgbClr val="B45908"/>
                </a:solidFill>
                <a:latin typeface="Consolas"/>
              </a:rPr>
              <a:t>mhs2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.</a:t>
            </a:r>
            <a:r>
              <a:rPr sz="1400" dirty="0">
                <a:solidFill>
                  <a:srgbClr val="B45908"/>
                </a:solidFill>
                <a:latin typeface="Consolas"/>
              </a:rPr>
              <a:t>tampilkanInfo</a:t>
            </a:r>
            <a:r>
              <a:rPr sz="1400" dirty="0">
                <a:solidFill>
                  <a:srgbClr val="0B1F33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i="1" dirty="0">
                <a:solidFill>
                  <a:srgbClr val="80868B"/>
                </a:solidFill>
                <a:latin typeface="Consolas"/>
              </a:rPr>
              <a:t>// Output: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i="1" dirty="0">
                <a:solidFill>
                  <a:srgbClr val="80868B"/>
                </a:solidFill>
                <a:latin typeface="Consolas"/>
              </a:rPr>
              <a:t>// NIM: 111001 / Nama: Jones /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Jurusan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: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Teknologi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Informasi</a:t>
            </a:r>
            <a:endParaRPr sz="1400" i="1" dirty="0">
              <a:solidFill>
                <a:srgbClr val="80868B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i="1" dirty="0">
                <a:solidFill>
                  <a:srgbClr val="80868B"/>
                </a:solidFill>
                <a:latin typeface="Consolas"/>
              </a:rPr>
              <a:t>// NIM: 111002 / Nama: Alice /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Jurusan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: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Teknologi</a:t>
            </a:r>
            <a:r>
              <a:rPr sz="1400" i="1" dirty="0">
                <a:solidFill>
                  <a:srgbClr val="80868B"/>
                </a:solidFill>
                <a:latin typeface="Consolas"/>
              </a:rPr>
              <a:t> </a:t>
            </a:r>
            <a:r>
              <a:rPr sz="1400" i="1" dirty="0" err="1">
                <a:solidFill>
                  <a:srgbClr val="80868B"/>
                </a:solidFill>
                <a:latin typeface="Consolas"/>
              </a:rPr>
              <a:t>Informasi</a:t>
            </a:r>
            <a:endParaRPr sz="1400" i="1" dirty="0">
              <a:solidFill>
                <a:srgbClr val="80868B"/>
              </a:solidFill>
              <a:latin typeface="Consola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1920240" cy="640080"/>
          </a:xfrm>
          <a:prstGeom prst="roundRect">
            <a:avLst/>
          </a:prstGeom>
          <a:solidFill>
            <a:srgbClr val="E8F0F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mhs1 : Mahasiswa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371600"/>
            <a:ext cx="1920240" cy="640080"/>
          </a:xfrm>
          <a:prstGeom prst="roundRect">
            <a:avLst/>
          </a:prstGeom>
          <a:solidFill>
            <a:srgbClr val="E8F0F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mhs2 : Mahasiswa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3108960"/>
            <a:ext cx="2377440" cy="731520"/>
          </a:xfrm>
          <a:prstGeom prst="roundRect">
            <a:avLst/>
          </a:prstGeom>
          <a:solidFill>
            <a:srgbClr val="FEF3E8"/>
          </a:solidFill>
          <a:ln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ti : Jurusan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2011680"/>
            <a:ext cx="731520" cy="109728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44200" y="2011680"/>
            <a:ext cx="137160" cy="109728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0" y="4023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B86A00"/>
                </a:solidFill>
              </a:defRPr>
            </a:pPr>
            <a:r>
              <a:t>Objek Jurusan yang SAMA dipakai 2 Mahasiswa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663440"/>
            <a:ext cx="4480560" cy="219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202020"/>
                </a:solidFill>
                <a:latin typeface="Calibri"/>
              </a:defRPr>
            </a:pPr>
            <a:r>
              <a:rPr dirty="0"/>
              <a:t>➜ </a:t>
            </a:r>
            <a:r>
              <a:rPr dirty="0">
                <a:latin typeface="Consolas" panose="020B0609020204030204" pitchFamily="49" charset="0"/>
              </a:rPr>
              <a:t>mhs1</a:t>
            </a:r>
            <a:r>
              <a:rPr dirty="0"/>
              <a:t> &amp; </a:t>
            </a:r>
            <a:r>
              <a:rPr sz="1300" dirty="0">
                <a:solidFill>
                  <a:srgbClr val="202020"/>
                </a:solidFill>
                <a:latin typeface="Consolas" panose="020B0609020204030204" pitchFamily="49" charset="0"/>
              </a:rPr>
              <a:t>mhs2</a:t>
            </a:r>
            <a:r>
              <a:rPr dirty="0"/>
              <a:t> </a:t>
            </a:r>
            <a:r>
              <a:rPr dirty="0" err="1"/>
              <a:t>menunjuk</a:t>
            </a:r>
            <a:r>
              <a:rPr dirty="0"/>
              <a:t> ke OBJEK </a:t>
            </a:r>
            <a:r>
              <a:rPr sz="1300" dirty="0" err="1">
                <a:solidFill>
                  <a:srgbClr val="202020"/>
                </a:solidFill>
                <a:latin typeface="Consolas" panose="020B0609020204030204" pitchFamily="49" charset="0"/>
              </a:rPr>
              <a:t>ti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dua </a:t>
            </a:r>
            <a:r>
              <a:rPr dirty="0" err="1"/>
              <a:t>salinan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202020"/>
                </a:solidFill>
                <a:latin typeface="Calibri"/>
              </a:defRPr>
            </a:pPr>
            <a:r>
              <a:rPr dirty="0"/>
              <a:t>➜ Jika </a:t>
            </a:r>
            <a:r>
              <a:rPr sz="1300" dirty="0">
                <a:solidFill>
                  <a:srgbClr val="202020"/>
                </a:solidFill>
                <a:latin typeface="Consolas" panose="020B0609020204030204" pitchFamily="49" charset="0"/>
              </a:rPr>
              <a:t>mhs1</a:t>
            </a:r>
            <a:r>
              <a:rPr dirty="0"/>
              <a:t> </a:t>
            </a:r>
            <a:r>
              <a:rPr dirty="0" err="1"/>
              <a:t>dihapus</a:t>
            </a:r>
            <a:r>
              <a:rPr dirty="0"/>
              <a:t>, </a:t>
            </a:r>
            <a:r>
              <a:rPr dirty="0" err="1"/>
              <a:t>objek</a:t>
            </a:r>
            <a:r>
              <a:rPr dirty="0"/>
              <a:t> </a:t>
            </a:r>
            <a:r>
              <a:rPr sz="1300" dirty="0" err="1">
                <a:solidFill>
                  <a:srgbClr val="202020"/>
                </a:solidFill>
                <a:latin typeface="Consolas" panose="020B0609020204030204" pitchFamily="49" charset="0"/>
              </a:rPr>
              <a:t>ti</a:t>
            </a:r>
            <a:r>
              <a:rPr dirty="0"/>
              <a:t> TETAP ADA (</a:t>
            </a:r>
            <a:r>
              <a:rPr dirty="0" err="1"/>
              <a:t>masih</a:t>
            </a:r>
            <a:r>
              <a:rPr dirty="0"/>
              <a:t> </a:t>
            </a:r>
            <a:r>
              <a:rPr dirty="0" err="1"/>
              <a:t>dipakai</a:t>
            </a:r>
            <a:r>
              <a:rPr dirty="0"/>
              <a:t> </a:t>
            </a:r>
            <a:r>
              <a:rPr sz="1300" dirty="0">
                <a:solidFill>
                  <a:srgbClr val="202020"/>
                </a:solidFill>
                <a:latin typeface="Consolas" panose="020B0609020204030204" pitchFamily="49" charset="0"/>
              </a:rPr>
              <a:t>mhs2</a:t>
            </a:r>
            <a:r>
              <a:rPr dirty="0"/>
              <a:t>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202020"/>
                </a:solidFill>
                <a:latin typeface="Calibri"/>
              </a:defRPr>
            </a:pPr>
            <a:r>
              <a:rPr dirty="0"/>
              <a:t>➜ </a:t>
            </a:r>
            <a:r>
              <a:rPr lang="id-ID" dirty="0"/>
              <a:t>Beda dengan Composition: </a:t>
            </a:r>
            <a:r>
              <a:rPr lang="id-ID" sz="1300" dirty="0">
                <a:solidFill>
                  <a:srgbClr val="202020"/>
                </a:solidFill>
                <a:latin typeface="Consolas" panose="020B0609020204030204" pitchFamily="49" charset="0"/>
              </a:rPr>
              <a:t>Engine</a:t>
            </a:r>
            <a:r>
              <a:rPr lang="id-ID" dirty="0"/>
              <a:t> pada </a:t>
            </a:r>
            <a:r>
              <a:rPr lang="id-ID" sz="1300" dirty="0">
                <a:solidFill>
                  <a:srgbClr val="202020"/>
                </a:solidFill>
                <a:latin typeface="Consolas" panose="020B0609020204030204" pitchFamily="49" charset="0"/>
              </a:rPr>
              <a:t>Car</a:t>
            </a:r>
            <a:r>
              <a:rPr lang="id-ID" dirty="0"/>
              <a:t> dibuat &amp; "mati" bersama </a:t>
            </a:r>
            <a:r>
              <a:rPr lang="id-ID" sz="1300" dirty="0">
                <a:solidFill>
                  <a:srgbClr val="202020"/>
                </a:solidFill>
                <a:latin typeface="Consolas" panose="020B0609020204030204" pitchFamily="49" charset="0"/>
              </a:rPr>
              <a:t>Car-nya</a:t>
            </a:r>
            <a:r>
              <a:rPr lang="en-US" dirty="0"/>
              <a:t> </a:t>
            </a:r>
            <a:r>
              <a:rPr lang="id-ID" dirty="0"/>
              <a:t>sendiri — tidak didesain untuk dipakai bersama </a:t>
            </a:r>
            <a:r>
              <a:rPr lang="id-ID" sz="1300" dirty="0">
                <a:solidFill>
                  <a:srgbClr val="202020"/>
                </a:solidFill>
                <a:latin typeface="Consolas" panose="020B0609020204030204" pitchFamily="49" charset="0"/>
              </a:rPr>
              <a:t>Car</a:t>
            </a:r>
            <a:r>
              <a:rPr lang="id-ID" dirty="0"/>
              <a:t> lain.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202020"/>
                </a:solidFill>
                <a:latin typeface="Calibri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Diskusi: Bank ◇ Account ◇ Customer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907663"/>
              </p:ext>
            </p:extLst>
          </p:nvPr>
        </p:nvGraphicFramePr>
        <p:xfrm>
          <a:off x="548640" y="1097280"/>
          <a:ext cx="311848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Bank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Nama: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Accounts: Account[]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bukaAccount(cust)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tampilkanInfo</a:t>
                      </a:r>
                      <a:r>
                        <a:rPr dirty="0"/>
                        <a:t>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80560" y="1097280"/>
          <a:ext cx="3383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NomorRekening: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Saldo: double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setor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jml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tarik(jml)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getSaldo</a:t>
                      </a:r>
                      <a:r>
                        <a:rPr dirty="0"/>
                        <a:t>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0" y="1097280"/>
          <a:ext cx="320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A1A1A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-  Nama: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-  NIK: String</a:t>
                      </a: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t>+ getNama()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</a:defRPr>
                      </a:pPr>
                      <a:r>
                        <a:rPr dirty="0"/>
                        <a:t>+ </a:t>
                      </a:r>
                      <a:r>
                        <a:rPr dirty="0" err="1"/>
                        <a:t>getNIK</a:t>
                      </a:r>
                      <a:r>
                        <a:rPr dirty="0"/>
                        <a:t>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22321" y="2057399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B86A00"/>
                </a:solidFill>
              </a:defRPr>
            </a:pPr>
            <a:r>
              <a:rPr dirty="0"/>
              <a:t>1  ◇── 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19456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B86A00"/>
                </a:solidFill>
              </a:defRPr>
            </a:pPr>
            <a:r>
              <a:t>*  ──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11064240" cy="1965961"/>
          </a:xfrm>
          <a:prstGeom prst="roundRect">
            <a:avLst/>
          </a:prstGeom>
          <a:solidFill>
            <a:srgbClr val="E8F0F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182880" rtlCol="0" anchor="ctr"/>
          <a:lstStyle/>
          <a:p>
            <a:pPr algn="ctr">
              <a:spcAft>
                <a:spcPts val="300"/>
              </a:spcAft>
              <a:defRPr sz="1500" b="1">
                <a:solidFill>
                  <a:srgbClr val="1F4E79"/>
                </a:solidFill>
              </a:defRPr>
            </a:pPr>
            <a:r>
              <a:rPr dirty="0"/>
              <a:t>❓ </a:t>
            </a:r>
            <a:r>
              <a:rPr dirty="0" err="1"/>
              <a:t>Pertanyaan</a:t>
            </a:r>
            <a:r>
              <a:rPr dirty="0"/>
              <a:t> </a:t>
            </a:r>
            <a:r>
              <a:rPr dirty="0" err="1"/>
              <a:t>diskusi</a:t>
            </a:r>
            <a:r>
              <a:rPr dirty="0"/>
              <a:t> (</a:t>
            </a:r>
            <a:r>
              <a:rPr dirty="0" err="1"/>
              <a:t>jawab</a:t>
            </a:r>
            <a:r>
              <a:rPr dirty="0"/>
              <a:t> dengan </a:t>
            </a:r>
            <a:r>
              <a:rPr dirty="0" err="1"/>
              <a:t>pola</a:t>
            </a:r>
            <a:r>
              <a:rPr dirty="0"/>
              <a:t> </a:t>
            </a:r>
            <a:r>
              <a:rPr dirty="0" err="1"/>
              <a:t>Mahasiswa</a:t>
            </a:r>
            <a:r>
              <a:rPr dirty="0"/>
              <a:t> ◇ </a:t>
            </a:r>
            <a:r>
              <a:rPr dirty="0" err="1"/>
              <a:t>Jurusan</a:t>
            </a:r>
            <a:r>
              <a:rPr dirty="0"/>
              <a:t> </a:t>
            </a:r>
            <a:r>
              <a:rPr dirty="0" err="1"/>
              <a:t>tadi</a:t>
            </a:r>
            <a:r>
              <a:rPr dirty="0"/>
              <a:t>):</a:t>
            </a:r>
          </a:p>
          <a:p>
            <a:pPr>
              <a:spcAft>
                <a:spcPts val="300"/>
              </a:spcAft>
              <a:defRPr sz="1350" b="0">
                <a:solidFill>
                  <a:srgbClr val="202020"/>
                </a:solidFill>
              </a:defRPr>
            </a:pPr>
            <a:r>
              <a:rPr dirty="0"/>
              <a:t>1. Bank ◇ Account: Aggregation atau Composition? Jika Bank </a:t>
            </a:r>
            <a:r>
              <a:rPr dirty="0" err="1"/>
              <a:t>tempat</a:t>
            </a:r>
            <a:r>
              <a:rPr dirty="0"/>
              <a:t> Account </a:t>
            </a:r>
            <a:r>
              <a:rPr dirty="0" err="1"/>
              <a:t>dibuka</a:t>
            </a:r>
            <a:r>
              <a:rPr lang="en-US" dirty="0"/>
              <a:t> </a:t>
            </a:r>
            <a:r>
              <a:rPr dirty="0"/>
              <a:t>TUTUP, apakah Account </a:t>
            </a:r>
            <a:r>
              <a:rPr dirty="0" err="1"/>
              <a:t>pemilik</a:t>
            </a:r>
            <a:r>
              <a:rPr dirty="0"/>
              <a:t> lain </a:t>
            </a:r>
            <a:r>
              <a:rPr dirty="0" err="1"/>
              <a:t>ikut</a:t>
            </a:r>
            <a:r>
              <a:rPr dirty="0"/>
              <a:t> </a:t>
            </a:r>
            <a:r>
              <a:rPr dirty="0" err="1"/>
              <a:t>hilang</a:t>
            </a:r>
            <a:r>
              <a:rPr dirty="0"/>
              <a:t>? (</a:t>
            </a:r>
            <a:r>
              <a:rPr dirty="0" err="1"/>
              <a:t>petunjuk</a:t>
            </a:r>
            <a:r>
              <a:rPr dirty="0"/>
              <a:t>: </a:t>
            </a:r>
            <a:r>
              <a:rPr dirty="0" err="1"/>
              <a:t>biasanya</a:t>
            </a:r>
            <a:r>
              <a:rPr dirty="0"/>
              <a:t> di-</a:t>
            </a:r>
            <a:r>
              <a:rPr dirty="0" err="1"/>
              <a:t>migrasi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hilang</a:t>
            </a:r>
            <a:r>
              <a:rPr dirty="0"/>
              <a:t>)</a:t>
            </a:r>
          </a:p>
          <a:p>
            <a:pPr>
              <a:spcAft>
                <a:spcPts val="300"/>
              </a:spcAft>
              <a:defRPr sz="1350" b="0">
                <a:solidFill>
                  <a:srgbClr val="202020"/>
                </a:solidFill>
              </a:defRPr>
            </a:pPr>
            <a:r>
              <a:rPr dirty="0"/>
              <a:t>2. Satu Customer bisa punya LEBIH DARI SATU Account (</a:t>
            </a:r>
            <a:r>
              <a:rPr dirty="0" err="1"/>
              <a:t>tabungan</a:t>
            </a:r>
            <a:r>
              <a:rPr dirty="0"/>
              <a:t> + </a:t>
            </a:r>
            <a:r>
              <a:rPr dirty="0" err="1"/>
              <a:t>giro</a:t>
            </a:r>
            <a:r>
              <a:rPr dirty="0"/>
              <a:t>). Apakah ini</a:t>
            </a:r>
            <a:r>
              <a:rPr lang="en-US"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jenis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Account—Customer, atau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multiplicity-</a:t>
            </a:r>
            <a:r>
              <a:rPr dirty="0" err="1"/>
              <a:t>nya</a:t>
            </a:r>
            <a:r>
              <a:rPr dirty="0"/>
              <a:t>?</a:t>
            </a:r>
          </a:p>
          <a:p>
            <a:pPr>
              <a:spcAft>
                <a:spcPts val="300"/>
              </a:spcAft>
              <a:defRPr sz="1350" b="0">
                <a:solidFill>
                  <a:srgbClr val="202020"/>
                </a:solidFill>
              </a:defRPr>
            </a:pPr>
            <a:r>
              <a:rPr dirty="0"/>
              <a:t>3. </a:t>
            </a:r>
            <a:r>
              <a:rPr dirty="0" err="1"/>
              <a:t>Bandingkan</a:t>
            </a:r>
            <a:r>
              <a:rPr dirty="0"/>
              <a:t> dengan Laptop ◆ Processor: </a:t>
            </a:r>
            <a:r>
              <a:rPr dirty="0" err="1"/>
              <a:t>mengapa</a:t>
            </a:r>
            <a:r>
              <a:rPr dirty="0"/>
              <a:t> Account–Customer BUKAN Composition</a:t>
            </a:r>
            <a:r>
              <a:rPr lang="en-US" dirty="0"/>
              <a:t> </a:t>
            </a:r>
            <a:r>
              <a:rPr dirty="0" err="1"/>
              <a:t>meskipun</a:t>
            </a:r>
            <a:r>
              <a:rPr dirty="0"/>
              <a:t> </a:t>
            </a:r>
            <a:r>
              <a:rPr dirty="0" err="1"/>
              <a:t>sama-sama</a:t>
            </a:r>
            <a:r>
              <a:rPr dirty="0"/>
              <a:t> "</a:t>
            </a:r>
            <a:r>
              <a:rPr dirty="0" err="1"/>
              <a:t>dimiliki</a:t>
            </a:r>
            <a:r>
              <a:rPr dirty="0"/>
              <a:t>"?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11535" cy="487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202020"/>
                </a:solidFill>
                <a:latin typeface="Calibri"/>
              </a:defRPr>
            </a:pPr>
            <a:r>
              <a:rPr dirty="0"/>
              <a:t>➜ </a:t>
            </a:r>
            <a:r>
              <a:rPr dirty="0" err="1"/>
              <a:t>Jawaban</a:t>
            </a:r>
            <a:r>
              <a:rPr dirty="0"/>
              <a:t> </a:t>
            </a:r>
            <a:r>
              <a:rPr dirty="0" err="1"/>
              <a:t>singkat</a:t>
            </a:r>
            <a:r>
              <a:rPr dirty="0"/>
              <a:t>: </a:t>
            </a:r>
            <a:r>
              <a:rPr dirty="0" err="1"/>
              <a:t>keduanya</a:t>
            </a:r>
            <a:r>
              <a:rPr dirty="0"/>
              <a:t> Aggregation — Account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</a:t>
            </a:r>
            <a:r>
              <a:rPr dirty="0" err="1"/>
              <a:t>lepas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Bank/Customer </a:t>
            </a:r>
            <a:r>
              <a:rPr dirty="0" err="1"/>
              <a:t>tertentu</a:t>
            </a:r>
            <a:r>
              <a:rPr dirty="0"/>
              <a:t>,</a:t>
            </a:r>
            <a:r>
              <a:rPr lang="en-US" dirty="0"/>
              <a:t> </a:t>
            </a:r>
            <a:r>
              <a:rPr dirty="0" err="1"/>
              <a:t>hanya</a:t>
            </a:r>
            <a:r>
              <a:rPr dirty="0"/>
              <a:t> multiplicity-</a:t>
            </a:r>
            <a:r>
              <a:rPr dirty="0" err="1"/>
              <a:t>nya</a:t>
            </a:r>
            <a:r>
              <a:rPr dirty="0"/>
              <a:t> yang </a:t>
            </a:r>
            <a:r>
              <a:rPr dirty="0" err="1"/>
              <a:t>berbeda</a:t>
            </a:r>
            <a:r>
              <a:rPr dirty="0"/>
              <a:t> (1..* pada </a:t>
            </a:r>
            <a:r>
              <a:rPr dirty="0" err="1"/>
              <a:t>sisi</a:t>
            </a:r>
            <a:r>
              <a:rPr dirty="0"/>
              <a:t> Account untuk Customer).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Kapan Perlu Relasi? (Heuristik Desain)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11535" cy="4108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 err="1"/>
              <a:t>Pertanyaan</a:t>
            </a:r>
            <a:r>
              <a:rPr dirty="0"/>
              <a:t> yang bisa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saat</a:t>
            </a:r>
            <a:r>
              <a:rPr dirty="0"/>
              <a:t> </a:t>
            </a:r>
            <a:r>
              <a:rPr dirty="0" err="1"/>
              <a:t>merancang</a:t>
            </a:r>
            <a:r>
              <a:rPr dirty="0"/>
              <a:t> class </a:t>
            </a:r>
            <a:r>
              <a:rPr dirty="0" err="1"/>
              <a:t>sendiri</a:t>
            </a:r>
            <a:r>
              <a:rPr dirty="0"/>
              <a:t>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1. Apakah data ini punya </a:t>
            </a:r>
            <a:r>
              <a:rPr dirty="0" err="1"/>
              <a:t>identitas</a:t>
            </a:r>
            <a:r>
              <a:rPr dirty="0"/>
              <a:t>/</a:t>
            </a:r>
            <a:r>
              <a:rPr dirty="0" err="1"/>
              <a:t>perilaku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 yang </a:t>
            </a:r>
            <a:r>
              <a:rPr dirty="0" err="1"/>
              <a:t>berdiri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?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/>
              <a:t>Ya → </a:t>
            </a:r>
            <a:r>
              <a:rPr sz="1400" dirty="0" err="1"/>
              <a:t>jadikan</a:t>
            </a:r>
            <a:r>
              <a:rPr sz="1400" dirty="0"/>
              <a:t> class </a:t>
            </a:r>
            <a:r>
              <a:rPr sz="1400" dirty="0" err="1"/>
              <a:t>terpisah</a:t>
            </a:r>
            <a:r>
              <a:rPr sz="1400" dirty="0"/>
              <a:t> (</a:t>
            </a:r>
            <a:r>
              <a:rPr sz="1400" dirty="0" err="1"/>
              <a:t>relasi</a:t>
            </a:r>
            <a:r>
              <a:rPr sz="1400" dirty="0"/>
              <a:t>). </a:t>
            </a:r>
            <a:r>
              <a:rPr sz="1400" dirty="0" err="1"/>
              <a:t>Sekadar</a:t>
            </a:r>
            <a:r>
              <a:rPr sz="1400" dirty="0"/>
              <a:t> </a:t>
            </a:r>
            <a:r>
              <a:rPr sz="1400" dirty="0" err="1"/>
              <a:t>nilai</a:t>
            </a:r>
            <a:r>
              <a:rPr sz="1400" dirty="0"/>
              <a:t> </a:t>
            </a:r>
            <a:r>
              <a:rPr sz="1400" dirty="0" err="1"/>
              <a:t>sederhana</a:t>
            </a:r>
            <a:r>
              <a:rPr sz="1400" dirty="0"/>
              <a:t> (mis. </a:t>
            </a:r>
            <a:r>
              <a:rPr lang="en-US" sz="1400" dirty="0"/>
              <a:t>int </a:t>
            </a:r>
            <a:r>
              <a:rPr sz="1400" dirty="0"/>
              <a:t>x, y</a:t>
            </a:r>
            <a:r>
              <a:rPr lang="en-US" sz="1400" dirty="0"/>
              <a:t> </a:t>
            </a:r>
            <a:r>
              <a:rPr sz="1400" dirty="0"/>
              <a:t>pada </a:t>
            </a:r>
            <a:r>
              <a:rPr sz="1400" dirty="0" err="1"/>
              <a:t>Titik</a:t>
            </a:r>
            <a:r>
              <a:rPr sz="1400" dirty="0"/>
              <a:t>) → </a:t>
            </a:r>
            <a:r>
              <a:rPr sz="1400" dirty="0" err="1"/>
              <a:t>cukup</a:t>
            </a:r>
            <a:r>
              <a:rPr sz="1400" dirty="0"/>
              <a:t> </a:t>
            </a:r>
            <a:r>
              <a:rPr sz="1400" dirty="0" err="1"/>
              <a:t>atribut</a:t>
            </a:r>
            <a:r>
              <a:rPr sz="1400" dirty="0"/>
              <a:t> </a:t>
            </a:r>
            <a:r>
              <a:rPr sz="1400" dirty="0" err="1"/>
              <a:t>biasa</a:t>
            </a:r>
            <a:r>
              <a:rPr sz="1400" dirty="0"/>
              <a:t>, </a:t>
            </a:r>
            <a:r>
              <a:rPr sz="1400" dirty="0" err="1"/>
              <a:t>tidak</a:t>
            </a:r>
            <a:r>
              <a:rPr sz="1400" dirty="0"/>
              <a:t> </a:t>
            </a:r>
            <a:r>
              <a:rPr sz="1400" dirty="0" err="1"/>
              <a:t>perlu</a:t>
            </a:r>
            <a:r>
              <a:rPr sz="1400" dirty="0"/>
              <a:t> class baru.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sz="1400" dirty="0"/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Berapa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instance </a:t>
            </a:r>
            <a:r>
              <a:rPr dirty="0" err="1"/>
              <a:t>dibutuhkan</a:t>
            </a:r>
            <a:r>
              <a:rPr dirty="0"/>
              <a:t>, dan apakah </a:t>
            </a:r>
            <a:r>
              <a:rPr dirty="0" err="1"/>
              <a:t>jumlahnya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?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 err="1"/>
              <a:t>Jumlah</a:t>
            </a:r>
            <a:r>
              <a:rPr sz="1400" dirty="0"/>
              <a:t> PASTI &amp; </a:t>
            </a:r>
            <a:r>
              <a:rPr sz="1400" dirty="0" err="1"/>
              <a:t>kecil</a:t>
            </a:r>
            <a:r>
              <a:rPr sz="1400" dirty="0"/>
              <a:t> (mis. </a:t>
            </a:r>
            <a:r>
              <a:rPr sz="1400" dirty="0" err="1"/>
              <a:t>tepat</a:t>
            </a:r>
            <a:r>
              <a:rPr sz="1400" dirty="0"/>
              <a:t> 2 </a:t>
            </a:r>
            <a:r>
              <a:rPr sz="1400" dirty="0" err="1"/>
              <a:t>kamera</a:t>
            </a:r>
            <a:r>
              <a:rPr sz="1400" dirty="0"/>
              <a:t>) → </a:t>
            </a:r>
            <a:r>
              <a:rPr sz="1400" dirty="0" err="1"/>
              <a:t>atribut</a:t>
            </a:r>
            <a:r>
              <a:rPr sz="1400" dirty="0"/>
              <a:t> </a:t>
            </a:r>
            <a:r>
              <a:rPr sz="1400" dirty="0" err="1"/>
              <a:t>terpisah</a:t>
            </a:r>
            <a:r>
              <a:rPr sz="1400" dirty="0"/>
              <a:t>:</a:t>
            </a:r>
            <a:r>
              <a:rPr lang="en-US" sz="1400" dirty="0"/>
              <a:t> </a:t>
            </a:r>
            <a:r>
              <a:rPr sz="1400" dirty="0" err="1"/>
              <a:t>KameraDepan</a:t>
            </a:r>
            <a:r>
              <a:rPr sz="1400" dirty="0"/>
              <a:t>, </a:t>
            </a:r>
            <a:r>
              <a:rPr sz="1400" dirty="0" err="1"/>
              <a:t>KameraBelakang</a:t>
            </a:r>
            <a:endParaRPr sz="1400" dirty="0"/>
          </a:p>
          <a:p>
            <a:pPr lvl="2"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 err="1"/>
              <a:t>Jumlah</a:t>
            </a:r>
            <a:r>
              <a:rPr sz="1400" dirty="0"/>
              <a:t> DINAMIS/</a:t>
            </a:r>
            <a:r>
              <a:rPr sz="1400" dirty="0" err="1"/>
              <a:t>banyak</a:t>
            </a:r>
            <a:r>
              <a:rPr sz="1400" dirty="0"/>
              <a:t> (mis. </a:t>
            </a:r>
            <a:r>
              <a:rPr sz="1400" dirty="0" err="1"/>
              <a:t>senjata</a:t>
            </a:r>
            <a:r>
              <a:rPr sz="1400" dirty="0"/>
              <a:t> </a:t>
            </a:r>
            <a:r>
              <a:rPr sz="1400" dirty="0" err="1"/>
              <a:t>karakter</a:t>
            </a:r>
            <a:r>
              <a:rPr sz="1400" dirty="0"/>
              <a:t>) → array/</a:t>
            </a:r>
            <a:r>
              <a:rPr sz="1400" dirty="0" err="1"/>
              <a:t>koleksi</a:t>
            </a:r>
            <a:endParaRPr sz="1400" dirty="0"/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Objek</a:t>
            </a:r>
            <a:r>
              <a:rPr dirty="0"/>
              <a:t> ini </a:t>
            </a:r>
            <a:r>
              <a:rPr dirty="0" err="1"/>
              <a:t>eksklusif</a:t>
            </a:r>
            <a:r>
              <a:rPr dirty="0"/>
              <a:t> </a:t>
            </a:r>
            <a:r>
              <a:rPr dirty="0" err="1"/>
              <a:t>milik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pemilik</a:t>
            </a:r>
            <a:r>
              <a:rPr dirty="0"/>
              <a:t>, atau bisa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bersama</a:t>
            </a:r>
            <a:r>
              <a:rPr dirty="0"/>
              <a:t>?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 err="1"/>
              <a:t>Eksklusif</a:t>
            </a:r>
            <a:r>
              <a:rPr sz="1400" dirty="0"/>
              <a:t>, lifecycle </a:t>
            </a:r>
            <a:r>
              <a:rPr sz="1400" dirty="0" err="1"/>
              <a:t>terikat</a:t>
            </a:r>
            <a:r>
              <a:rPr sz="1400" dirty="0"/>
              <a:t> → Composition (◆)</a:t>
            </a:r>
          </a:p>
          <a:p>
            <a:pPr lvl="2"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202020"/>
                </a:solidFill>
                <a:latin typeface="Calibri"/>
              </a:defRPr>
            </a:pPr>
            <a:r>
              <a:rPr sz="1400" dirty="0"/>
              <a:t>Bisa </a:t>
            </a:r>
            <a:r>
              <a:rPr sz="1400" dirty="0" err="1"/>
              <a:t>dibagi</a:t>
            </a:r>
            <a:r>
              <a:rPr sz="1400" dirty="0"/>
              <a:t>, lifecycle </a:t>
            </a:r>
            <a:r>
              <a:rPr sz="1400" dirty="0" err="1"/>
              <a:t>independen</a:t>
            </a:r>
            <a:r>
              <a:rPr sz="1400" dirty="0"/>
              <a:t> → Aggregation (◇)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0"/>
            <a:ext cx="11064240" cy="594360"/>
          </a:xfrm>
          <a:prstGeom prst="roundRect">
            <a:avLst/>
          </a:prstGeom>
          <a:solidFill>
            <a:srgbClr val="F2F2F2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37160" rtlCol="0" anchor="ctr"/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rPr dirty="0"/>
              <a:t>Domain yang sudah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lihat</a:t>
            </a:r>
            <a:r>
              <a:rPr dirty="0"/>
              <a:t>: Laptop/Processor, </a:t>
            </a:r>
            <a:r>
              <a:rPr dirty="0" err="1"/>
              <a:t>Karakter</a:t>
            </a:r>
            <a:r>
              <a:rPr dirty="0"/>
              <a:t>/</a:t>
            </a:r>
            <a:r>
              <a:rPr dirty="0" err="1"/>
              <a:t>Senjata</a:t>
            </a:r>
            <a:r>
              <a:rPr dirty="0"/>
              <a:t>, </a:t>
            </a:r>
            <a:r>
              <a:rPr dirty="0" err="1"/>
              <a:t>Mahasiswa</a:t>
            </a:r>
            <a:r>
              <a:rPr dirty="0"/>
              <a:t>/</a:t>
            </a:r>
            <a:r>
              <a:rPr dirty="0" err="1"/>
              <a:t>Jurusan</a:t>
            </a:r>
            <a:r>
              <a:rPr dirty="0"/>
              <a:t>, Driver/Mobil, Bank/Account/Customer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 err="1"/>
              <a:t>pola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, </a:t>
            </a:r>
            <a:r>
              <a:rPr dirty="0" err="1"/>
              <a:t>konteks</a:t>
            </a:r>
            <a:r>
              <a:rPr dirty="0"/>
              <a:t> </a:t>
            </a:r>
            <a:r>
              <a:rPr dirty="0" err="1"/>
              <a:t>berbeda</a:t>
            </a:r>
            <a:r>
              <a:rPr dirty="0"/>
              <a:t>. </a:t>
            </a:r>
            <a:r>
              <a:rPr dirty="0" err="1"/>
              <a:t>Latihlah</a:t>
            </a:r>
            <a:r>
              <a:rPr dirty="0"/>
              <a:t> </a:t>
            </a:r>
            <a:r>
              <a:rPr dirty="0" err="1"/>
              <a:t>mengenali</a:t>
            </a:r>
            <a:r>
              <a:rPr dirty="0"/>
              <a:t> </a:t>
            </a:r>
            <a:r>
              <a:rPr dirty="0" err="1"/>
              <a:t>polanya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menghafal</a:t>
            </a:r>
            <a:r>
              <a:rPr dirty="0"/>
              <a:t> </a:t>
            </a:r>
            <a:r>
              <a:rPr dirty="0" err="1"/>
              <a:t>contohnya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Ringkasan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HAS-A (field tersimpan) → Composition (◆, terikat) atau Aggregation (◇, bisa dibagi)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USES-A: object hanya lewat sebagai parameter, tidak disimpan sebagai field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Heuristik cepat: disimpan sebagai field → HAS-A; hanya parameter → USES-A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Variabel objek menyimpan REFERENCE; objek sesungguhnya ada di Heap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Tell, Don't Ask: sembunyikan detail internal, hindari chaining dari luar (Law of Demeter)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Array of Object menyimpan banyak reference — pastikan semua terisi &amp; tervalidasi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Selalu terapkan defensive programming: null check, validasi batas/index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50">
                <a:solidFill>
                  <a:srgbClr val="202020"/>
                </a:solidFill>
                <a:latin typeface="Calibri"/>
              </a:defRPr>
            </a:pPr>
            <a:r>
              <a:t>✓  Diagram UML + multiplicity membantu merancang relasi sebelum menulis kode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Latihan Mandiri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79" y="1874963"/>
            <a:ext cx="10911535" cy="2876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Sepeda motor </a:t>
            </a:r>
            <a:r>
              <a:rPr dirty="0" err="1"/>
              <a:t>terdiri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atribut</a:t>
            </a:r>
            <a:r>
              <a:rPr dirty="0"/>
              <a:t> </a:t>
            </a:r>
            <a:r>
              <a:rPr dirty="0" err="1"/>
              <a:t>yaitu</a:t>
            </a:r>
            <a:r>
              <a:rPr dirty="0"/>
              <a:t>: Merek, Warna, </a:t>
            </a:r>
            <a:r>
              <a:rPr dirty="0" err="1"/>
              <a:t>Mesin</a:t>
            </a:r>
            <a:r>
              <a:rPr dirty="0"/>
              <a:t> dan</a:t>
            </a:r>
            <a:r>
              <a:rPr lang="en-US" dirty="0"/>
              <a:t> </a:t>
            </a:r>
            <a:r>
              <a:rPr dirty="0" err="1"/>
              <a:t>MaxSpeed</a:t>
            </a:r>
            <a:r>
              <a:rPr dirty="0"/>
              <a:t>, dan juga behavior </a:t>
            </a:r>
            <a:r>
              <a:rPr dirty="0" err="1"/>
              <a:t>yaitu</a:t>
            </a:r>
            <a:r>
              <a:rPr dirty="0"/>
              <a:t> </a:t>
            </a:r>
            <a:r>
              <a:rPr dirty="0" err="1"/>
              <a:t>menambah</a:t>
            </a:r>
            <a:r>
              <a:rPr dirty="0"/>
              <a:t> dan </a:t>
            </a:r>
            <a:r>
              <a:rPr dirty="0" err="1"/>
              <a:t>mengurangi</a:t>
            </a:r>
            <a:r>
              <a:rPr dirty="0"/>
              <a:t> </a:t>
            </a:r>
            <a:r>
              <a:rPr dirty="0" err="1"/>
              <a:t>kecepatan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 err="1"/>
              <a:t>Mesin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 </a:t>
            </a:r>
            <a:r>
              <a:rPr dirty="0" err="1"/>
              <a:t>terpisah</a:t>
            </a:r>
            <a:r>
              <a:rPr dirty="0"/>
              <a:t> yang </a:t>
            </a:r>
            <a:r>
              <a:rPr dirty="0" err="1"/>
              <a:t>terdiri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Kapasitas</a:t>
            </a:r>
            <a:r>
              <a:rPr dirty="0"/>
              <a:t> dan </a:t>
            </a:r>
            <a:r>
              <a:rPr dirty="0" err="1"/>
              <a:t>Tipe</a:t>
            </a:r>
            <a:r>
              <a:rPr dirty="0"/>
              <a:t> Bahan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Bakar.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Buat </a:t>
            </a:r>
            <a:r>
              <a:rPr dirty="0" err="1"/>
              <a:t>setidaknya</a:t>
            </a:r>
            <a:r>
              <a:rPr dirty="0"/>
              <a:t> 2 </a:t>
            </a:r>
            <a:r>
              <a:rPr dirty="0" err="1"/>
              <a:t>kelas</a:t>
            </a:r>
            <a:r>
              <a:rPr dirty="0"/>
              <a:t> yang terkait,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kelas</a:t>
            </a:r>
            <a:r>
              <a:rPr dirty="0"/>
              <a:t> </a:t>
            </a:r>
            <a:r>
              <a:rPr dirty="0" err="1"/>
              <a:t>memiliki</a:t>
            </a:r>
            <a:r>
              <a:rPr dirty="0"/>
              <a:t> </a:t>
            </a:r>
            <a:r>
              <a:rPr dirty="0" err="1"/>
              <a:t>atribut</a:t>
            </a:r>
            <a:r>
              <a:rPr dirty="0"/>
              <a:t> dan</a:t>
            </a:r>
            <a:r>
              <a:rPr lang="en-US" dirty="0"/>
              <a:t> </a:t>
            </a:r>
            <a:r>
              <a:rPr dirty="0" err="1"/>
              <a:t>metodenya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 dan juga </a:t>
            </a:r>
            <a:r>
              <a:rPr dirty="0" err="1"/>
              <a:t>metode</a:t>
            </a:r>
            <a:r>
              <a:rPr dirty="0"/>
              <a:t> getter-setter.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○  Gambar diagram UML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kelas-kelas</a:t>
            </a:r>
            <a:r>
              <a:rPr dirty="0"/>
              <a:t> </a:t>
            </a:r>
            <a:r>
              <a:rPr dirty="0" err="1"/>
              <a:t>tersebut</a:t>
            </a:r>
            <a:r>
              <a:rPr dirty="0"/>
              <a:t> (</a:t>
            </a:r>
            <a:r>
              <a:rPr dirty="0" err="1"/>
              <a:t>sertakan</a:t>
            </a:r>
            <a:r>
              <a:rPr dirty="0"/>
              <a:t> multiplicity).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○  </a:t>
            </a:r>
            <a:r>
              <a:rPr dirty="0" err="1"/>
              <a:t>Terapkan</a:t>
            </a:r>
            <a:r>
              <a:rPr dirty="0"/>
              <a:t> minimal 1 </a:t>
            </a:r>
            <a:r>
              <a:rPr dirty="0" err="1"/>
              <a:t>pola</a:t>
            </a:r>
            <a:r>
              <a:rPr dirty="0"/>
              <a:t> defensive programming yang </a:t>
            </a:r>
            <a:r>
              <a:rPr dirty="0" err="1"/>
              <a:t>telah</a:t>
            </a:r>
            <a:r>
              <a:rPr dirty="0"/>
              <a:t> </a:t>
            </a:r>
            <a:r>
              <a:rPr dirty="0" err="1"/>
              <a:t>dipelajari</a:t>
            </a:r>
            <a:r>
              <a:rPr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rPr dirty="0"/>
              <a:t>○  </a:t>
            </a:r>
            <a:r>
              <a:rPr dirty="0" err="1"/>
              <a:t>Pertimbangkan</a:t>
            </a:r>
            <a:r>
              <a:rPr dirty="0"/>
              <a:t>: apakah </a:t>
            </a:r>
            <a:r>
              <a:rPr dirty="0" err="1"/>
              <a:t>desainmu</a:t>
            </a:r>
            <a:r>
              <a:rPr dirty="0"/>
              <a:t> </a:t>
            </a:r>
            <a:r>
              <a:rPr dirty="0" err="1"/>
              <a:t>butuh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Uses-A juga (</a:t>
            </a:r>
            <a:r>
              <a:rPr dirty="0" err="1"/>
              <a:t>misalnya</a:t>
            </a:r>
            <a:r>
              <a:rPr lang="en-US" dirty="0"/>
              <a:t> </a:t>
            </a:r>
            <a:r>
              <a:rPr dirty="0"/>
              <a:t>method yang </a:t>
            </a:r>
            <a:r>
              <a:rPr dirty="0" err="1"/>
              <a:t>menerima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 lain </a:t>
            </a:r>
            <a:r>
              <a:rPr dirty="0" err="1"/>
              <a:t>sebagai</a:t>
            </a:r>
            <a:r>
              <a:rPr dirty="0"/>
              <a:t> parameter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menyimpannya</a:t>
            </a:r>
            <a:r>
              <a:rPr dirty="0"/>
              <a:t>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9090"/>
                </a:solidFill>
              </a:defRPr>
            </a:pPr>
            <a:r>
              <a:t>Relasi Kelas — Pemrograman Berorientasi Objek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5353994"/>
            <a:ext cx="5943600" cy="2734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4E79"/>
                </a:solidFill>
              </a:defRPr>
            </a:pPr>
            <a:r>
              <a:t>Pertanyaan?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9948" y="3931920"/>
            <a:ext cx="14816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02020"/>
                </a:solidFill>
              </a:defRPr>
            </a:pPr>
            <a:r>
              <a:rPr dirty="0" err="1"/>
              <a:t>Terima</a:t>
            </a:r>
            <a:r>
              <a:rPr dirty="0"/>
              <a:t> </a:t>
            </a:r>
            <a:r>
              <a:rPr dirty="0" err="1"/>
              <a:t>kasih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4606</Words>
  <Application>Microsoft Office PowerPoint</Application>
  <PresentationFormat>Widescreen</PresentationFormat>
  <Paragraphs>688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IMAM FAHRUR ROZI</cp:lastModifiedBy>
  <cp:revision>24</cp:revision>
  <dcterms:created xsi:type="dcterms:W3CDTF">2013-01-27T09:14:16Z</dcterms:created>
  <dcterms:modified xsi:type="dcterms:W3CDTF">2026-09-11T09:46:35Z</dcterms:modified>
  <cp:category/>
</cp:coreProperties>
</file>