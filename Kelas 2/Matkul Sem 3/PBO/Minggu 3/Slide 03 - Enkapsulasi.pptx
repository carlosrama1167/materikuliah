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ihiNU2+rRG2SzWpQ9IJPi09Gvt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101F1B-8C12-46D6-8B15-184733483FE5}">
  <a:tblStyle styleId="{44101F1B-8C12-46D6-8B15-184733483FE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E8EBF5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8EBF5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409bacb811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409bacb811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409bacb811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409bacb8119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409bacb8119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409bacb8119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409bacb8119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409bacb8119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409bacb8119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409bacb8119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09bacb8119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409bacb8119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6F4E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/>
          <p:nvPr/>
        </p:nvSpPr>
        <p:spPr>
          <a:xfrm rot="854617">
            <a:off x="7481886" y="-1220738"/>
            <a:ext cx="4176314" cy="9461402"/>
          </a:xfrm>
          <a:custGeom>
            <a:rect b="b" l="l" r="r" t="t"/>
            <a:pathLst>
              <a:path extrusionOk="0" h="3605954" w="1394584">
                <a:moveTo>
                  <a:pt x="0" y="0"/>
                </a:moveTo>
                <a:lnTo>
                  <a:pt x="1394584" y="0"/>
                </a:lnTo>
                <a:lnTo>
                  <a:pt x="1394584" y="3605954"/>
                </a:lnTo>
                <a:lnTo>
                  <a:pt x="0" y="36059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" name="Google Shape;17;p36"/>
          <p:cNvGrpSpPr/>
          <p:nvPr/>
        </p:nvGrpSpPr>
        <p:grpSpPr>
          <a:xfrm>
            <a:off x="11526686" y="1530587"/>
            <a:ext cx="685003" cy="2071451"/>
            <a:chOff x="0" y="-38100"/>
            <a:chExt cx="270933" cy="911444"/>
          </a:xfrm>
        </p:grpSpPr>
        <p:sp>
          <p:nvSpPr>
            <p:cNvPr id="18" name="Google Shape;18;p36"/>
            <p:cNvSpPr/>
            <p:nvPr/>
          </p:nvSpPr>
          <p:spPr>
            <a:xfrm>
              <a:off x="0" y="0"/>
              <a:ext cx="270933" cy="873344"/>
            </a:xfrm>
            <a:custGeom>
              <a:rect b="b" l="l" r="r" t="t"/>
              <a:pathLst>
                <a:path extrusionOk="0" h="873344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873344"/>
                  </a:lnTo>
                  <a:lnTo>
                    <a:pt x="0" y="8733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36"/>
            <p:cNvSpPr txBox="1"/>
            <p:nvPr/>
          </p:nvSpPr>
          <p:spPr>
            <a:xfrm>
              <a:off x="0" y="-38100"/>
              <a:ext cx="270933" cy="911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20;p36"/>
          <p:cNvSpPr txBox="1"/>
          <p:nvPr/>
        </p:nvSpPr>
        <p:spPr>
          <a:xfrm rot="938500">
            <a:off x="11042031" y="-533557"/>
            <a:ext cx="2323587" cy="8186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ckwel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6"/>
          <p:cNvSpPr txBox="1"/>
          <p:nvPr>
            <p:ph idx="1" type="subTitle"/>
          </p:nvPr>
        </p:nvSpPr>
        <p:spPr>
          <a:xfrm>
            <a:off x="1524000" y="3897313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36"/>
          <p:cNvCxnSpPr/>
          <p:nvPr/>
        </p:nvCxnSpPr>
        <p:spPr>
          <a:xfrm rot="3487">
            <a:off x="7591476" y="3722182"/>
            <a:ext cx="3009850" cy="0"/>
          </a:xfrm>
          <a:prstGeom prst="straightConnector1">
            <a:avLst/>
          </a:prstGeom>
          <a:noFill/>
          <a:ln cap="flat" cmpd="sng" w="38100">
            <a:solidFill>
              <a:srgbClr val="243E4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/>
          <p:nvPr/>
        </p:nvSpPr>
        <p:spPr>
          <a:xfrm rot="-433127">
            <a:off x="3187970" y="5503838"/>
            <a:ext cx="9589907" cy="3140447"/>
          </a:xfrm>
          <a:custGeom>
            <a:rect b="b" l="l" r="r" t="t"/>
            <a:pathLst>
              <a:path extrusionOk="0" h="10065584" w="21881704">
                <a:moveTo>
                  <a:pt x="0" y="0"/>
                </a:moveTo>
                <a:lnTo>
                  <a:pt x="21881704" y="0"/>
                </a:lnTo>
                <a:lnTo>
                  <a:pt x="21881704" y="10065584"/>
                </a:lnTo>
                <a:lnTo>
                  <a:pt x="0" y="100655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2042" l="5745" r="305" t="543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7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7"/>
          <p:cNvSpPr txBox="1"/>
          <p:nvPr>
            <p:ph idx="1" type="body"/>
          </p:nvPr>
        </p:nvSpPr>
        <p:spPr>
          <a:xfrm>
            <a:off x="971551" y="1676400"/>
            <a:ext cx="1022985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0" type="dt"/>
          </p:nvPr>
        </p:nvSpPr>
        <p:spPr>
          <a:xfrm>
            <a:off x="838200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11" type="ftr"/>
          </p:nvPr>
        </p:nvSpPr>
        <p:spPr>
          <a:xfrm>
            <a:off x="4038600" y="61277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7"/>
          <p:cNvSpPr txBox="1"/>
          <p:nvPr>
            <p:ph idx="12" type="sldNum"/>
          </p:nvPr>
        </p:nvSpPr>
        <p:spPr>
          <a:xfrm>
            <a:off x="8610600" y="6127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ckwel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3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4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4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ckwel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o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o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o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o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4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ckwel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4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7"/>
          <p:cNvSpPr txBox="1"/>
          <p:nvPr>
            <p:ph type="title"/>
          </p:nvPr>
        </p:nvSpPr>
        <p:spPr>
          <a:xfrm>
            <a:off x="762000" y="1530350"/>
            <a:ext cx="5334000" cy="3781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pic>
        <p:nvPicPr>
          <p:cNvPr id="94" name="Google Shape;94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80087" y="1530350"/>
            <a:ext cx="3749913" cy="3781237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152400" kx="110000" rotWithShape="0" algn="tl" dir="900000" dist="12000" sy="98000" ky="200000">
              <a:srgbClr val="000000">
                <a:alpha val="29804"/>
              </a:srgbClr>
            </a:outerShdw>
          </a:effectLst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  <a:defRPr b="0" i="0" sz="4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file/d/1PT4YyoqLF9lWRXMp-e3aTPWyyoB89YFg/view?usp=drive_web" TargetMode="External"/><Relationship Id="rId4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ckwell"/>
              <a:buNone/>
            </a:pPr>
            <a:r>
              <a:rPr lang="en-US" sz="4000"/>
              <a:t>Pemrograman Berorientasi Object</a:t>
            </a:r>
            <a:endParaRPr/>
          </a:p>
        </p:txBody>
      </p:sp>
      <p:sp>
        <p:nvSpPr>
          <p:cNvPr id="101" name="Google Shape;101;p1"/>
          <p:cNvSpPr txBox="1"/>
          <p:nvPr>
            <p:ph idx="1" type="subTitle"/>
          </p:nvPr>
        </p:nvSpPr>
        <p:spPr>
          <a:xfrm>
            <a:off x="1524000" y="3897313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Enkapsulasi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Tim PBO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07" name="Google Shape;107;p2"/>
          <p:cNvSpPr txBox="1"/>
          <p:nvPr>
            <p:ph idx="1" type="body"/>
          </p:nvPr>
        </p:nvSpPr>
        <p:spPr>
          <a:xfrm>
            <a:off x="971551" y="1676400"/>
            <a:ext cx="1022985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Access Modifier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Getter – Setter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Konstruktor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Notasi UML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113" name="Google Shape;113;g409bacb811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Menganalisa Skenario</a:t>
            </a:r>
            <a:endParaRPr/>
          </a:p>
        </p:txBody>
      </p:sp>
      <p:sp>
        <p:nvSpPr>
          <p:cNvPr id="119" name="Google Shape;119;p4"/>
          <p:cNvSpPr txBox="1"/>
          <p:nvPr>
            <p:ph idx="1" type="body"/>
          </p:nvPr>
        </p:nvSpPr>
        <p:spPr>
          <a:xfrm>
            <a:off x="971551" y="1676400"/>
            <a:ext cx="1022985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Mari kita amati behaviour dari objek di dunia nyata.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Sebagai contoh, sebuah mobil.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Bagaimana perilaku dari sebuah mobil? 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o"/>
            </a:pPr>
            <a:r>
              <a:rPr lang="en-US"/>
              <a:t>Nyalakan mesin. Tambah kecepatan. Tambah kecepatan lagi. Kurangi kecepatan. Berhenti. Mundur pelan. Berhenti.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Behaviour tersebut dapat dilaksanakan melalui beberapa mekanisme. 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o"/>
            </a:pPr>
            <a:r>
              <a:rPr lang="en-US"/>
              <a:t>Kunci kontak untuk menyalakan dan mematikan mesin. Tongkat persneling, pedal gas dan pedal rem untuk menambah atau mengurangi kecepatan.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Dalam hal ini, kita menggunakan pedal gas dan pedal rem untuk mengatur kecepatan mobil tersebut.</a:t>
            </a:r>
            <a:endParaRPr/>
          </a:p>
          <a:p>
            <a:pPr indent="-29273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Menganalisa Skenario</a:t>
            </a:r>
            <a:endParaRPr/>
          </a:p>
        </p:txBody>
      </p:sp>
      <p:pic>
        <p:nvPicPr>
          <p:cNvPr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6959" y="1524001"/>
            <a:ext cx="4839557" cy="297180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  <p:pic>
        <p:nvPicPr>
          <p:cNvPr id="126" name="Google Shape;12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46960" y="4648200"/>
            <a:ext cx="3444891" cy="175260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  <p:pic>
        <p:nvPicPr>
          <p:cNvPr id="127" name="Google Shape;12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3660" y="4884420"/>
            <a:ext cx="3467100" cy="129540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Menganalisa Skenario</a:t>
            </a:r>
            <a:endParaRPr/>
          </a:p>
        </p:txBody>
      </p:sp>
      <p:sp>
        <p:nvSpPr>
          <p:cNvPr id="133" name="Google Shape;133;p6"/>
          <p:cNvSpPr txBox="1"/>
          <p:nvPr>
            <p:ph idx="1" type="body"/>
          </p:nvPr>
        </p:nvSpPr>
        <p:spPr>
          <a:xfrm>
            <a:off x="971551" y="1676400"/>
            <a:ext cx="1022985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Ada yang janggal dari class Mobil.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Yaitu, kecepatan mobil tiba-tiba saja berubah dari 0 ke 100.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Lebih janggal lagi, posisi kontak mobil masih dalam kondisi OFF.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Bagaimana mungkin sebuah mobil bisa sekejap berkecepatan dari nol ke 100, dan itupun kunci kontaknya OFF?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Nah dalam hal ini, akses ke atribut Mobil ternyata tidak terkontrol.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Padahal, objek di dunia nyata selalu memiliki batasan dan mekanisme bagaimana objek tersebut dapat digunakan.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Solusi</a:t>
            </a:r>
            <a:endParaRPr/>
          </a:p>
        </p:txBody>
      </p:sp>
      <p:sp>
        <p:nvSpPr>
          <p:cNvPr id="139" name="Google Shape;139;p7"/>
          <p:cNvSpPr txBox="1"/>
          <p:nvPr>
            <p:ph idx="1" type="body"/>
          </p:nvPr>
        </p:nvSpPr>
        <p:spPr>
          <a:xfrm>
            <a:off x="971551" y="1676400"/>
            <a:ext cx="1022985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o"/>
            </a:pPr>
            <a:r>
              <a:rPr lang="en-US"/>
              <a:t>Menyembunyikan atribut internal (kecepatan, kontakOn) dari pengguna (class lain)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o"/>
            </a:pPr>
            <a:r>
              <a:rPr lang="en-US"/>
              <a:t>Menyediakan </a:t>
            </a:r>
            <a:r>
              <a:rPr i="1" lang="en-US"/>
              <a:t>method </a:t>
            </a:r>
            <a:r>
              <a:rPr lang="en-US"/>
              <a:t>khusus untuk mengakses atribut.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145" name="Google Shape;145;g409bacb8119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09bacb8119_0_12"/>
          <p:cNvSpPr txBox="1"/>
          <p:nvPr>
            <p:ph type="title"/>
          </p:nvPr>
        </p:nvSpPr>
        <p:spPr>
          <a:xfrm>
            <a:off x="971551" y="517525"/>
            <a:ext cx="102300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ckwell"/>
              <a:buNone/>
            </a:pPr>
            <a:r>
              <a:rPr lang="en-US"/>
              <a:t>Default Access Modifier (Package-Private)</a:t>
            </a:r>
            <a:endParaRPr/>
          </a:p>
        </p:txBody>
      </p:sp>
      <p:sp>
        <p:nvSpPr>
          <p:cNvPr id="151" name="Google Shape;151;g409bacb8119_0_12"/>
          <p:cNvSpPr txBox="1"/>
          <p:nvPr>
            <p:ph idx="1" type="body"/>
          </p:nvPr>
        </p:nvSpPr>
        <p:spPr>
          <a:xfrm>
            <a:off x="309975" y="1676400"/>
            <a:ext cx="5269500" cy="48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Karakteristik:</a:t>
            </a:r>
            <a:r>
              <a:rPr lang="en-US" sz="2000"/>
              <a:t> Modifier ini tidak memerlukan kata kunci (</a:t>
            </a:r>
            <a:r>
              <a:rPr i="1" lang="en-US" sz="2000"/>
              <a:t>keyword</a:t>
            </a:r>
            <a:r>
              <a:rPr lang="en-US" sz="2000"/>
              <a:t>) apa pun saat dideklarasikan. Atribut atau method yang menggunakan tingkat akses ini hanya dapat diakses oleh class-class lain yang berada di dalam </a:t>
            </a:r>
            <a:r>
              <a:rPr b="1" lang="en-US" sz="2000"/>
              <a:t>package yang sama</a:t>
            </a:r>
            <a:r>
              <a:rPr lang="en-US" sz="2000"/>
              <a:t>.</a:t>
            </a:r>
            <a:br>
              <a:rPr lang="en-US" sz="2000"/>
            </a:br>
            <a:r>
              <a:rPr lang="en-US" sz="2000" u="sng">
                <a:solidFill>
                  <a:schemeClr val="hlink"/>
                </a:solidFill>
                <a:hlinkClick r:id="rId3"/>
              </a:rPr>
              <a:t>1</a:t>
            </a:r>
            <a:endParaRPr sz="2000" u="sng">
              <a:solidFill>
                <a:schemeClr val="hlink"/>
              </a:solidFill>
            </a:endParaRPr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Contoh Kasus:</a:t>
            </a:r>
            <a:r>
              <a:rPr lang="en-US" sz="2000"/>
              <a:t> Melanjutkan skenario sistem perbankan, misalkan kita memiliki kelas internal bernama </a:t>
            </a:r>
            <a:r>
              <a:rPr lang="en-US" sz="2000">
                <a:solidFill>
                  <a:srgbClr val="188038"/>
                </a:solidFill>
              </a:rPr>
              <a:t>KaryawanBank</a:t>
            </a:r>
            <a:r>
              <a:rPr lang="en-US" sz="2000"/>
              <a:t> yang bertugas memproses data nasabah dalam package yang sama (</a:t>
            </a:r>
            <a:r>
              <a:rPr lang="en-US" sz="2000">
                <a:solidFill>
                  <a:srgbClr val="188038"/>
                </a:solidFill>
              </a:rPr>
              <a:t>perbankan_internal</a:t>
            </a:r>
            <a:r>
              <a:rPr lang="en-US" sz="2000"/>
              <a:t>), namun kita tidak ingin data tersebut diakses oleh package luar.</a:t>
            </a:r>
            <a:endParaRPr sz="2000"/>
          </a:p>
          <a:p>
            <a:pPr indent="-3302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t/>
            </a:r>
            <a:endParaRPr sz="2000"/>
          </a:p>
        </p:txBody>
      </p:sp>
      <p:pic>
        <p:nvPicPr>
          <p:cNvPr id="152" name="Google Shape;152;g409bacb8119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1761737"/>
            <a:ext cx="5931651" cy="448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09bacb8119_0_24"/>
          <p:cNvSpPr txBox="1"/>
          <p:nvPr>
            <p:ph type="title"/>
          </p:nvPr>
        </p:nvSpPr>
        <p:spPr>
          <a:xfrm>
            <a:off x="971551" y="517525"/>
            <a:ext cx="102300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Protected Access Modifier</a:t>
            </a:r>
            <a:endParaRPr/>
          </a:p>
        </p:txBody>
      </p:sp>
      <p:sp>
        <p:nvSpPr>
          <p:cNvPr id="158" name="Google Shape;158;g409bacb8119_0_24"/>
          <p:cNvSpPr txBox="1"/>
          <p:nvPr>
            <p:ph idx="1" type="body"/>
          </p:nvPr>
        </p:nvSpPr>
        <p:spPr>
          <a:xfrm>
            <a:off x="309975" y="1676400"/>
            <a:ext cx="5269500" cy="48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Karakteristik:</a:t>
            </a:r>
            <a:r>
              <a:rPr lang="en-US" sz="2000"/>
              <a:t> Atribut atau method yang dideklarasikan dengan keyword </a:t>
            </a:r>
            <a:r>
              <a:rPr lang="en-US" sz="2000">
                <a:solidFill>
                  <a:srgbClr val="188038"/>
                </a:solidFill>
              </a:rPr>
              <a:t>protected</a:t>
            </a:r>
            <a:r>
              <a:rPr lang="en-US" sz="2000"/>
              <a:t> dapat diakses oleh class lain di dalam </a:t>
            </a:r>
            <a:r>
              <a:rPr b="1" lang="en-US" sz="2000"/>
              <a:t>package yang sama</a:t>
            </a:r>
            <a:r>
              <a:rPr lang="en-US" sz="2000"/>
              <a:t>, serta oleh </a:t>
            </a:r>
            <a:r>
              <a:rPr b="1" lang="en-US" sz="2000"/>
              <a:t>sub-class (class turunan)</a:t>
            </a:r>
            <a:r>
              <a:rPr lang="en-US" sz="2000"/>
              <a:t> meskipun sub-class tersebut berada di package yang berbeda.</a:t>
            </a:r>
            <a:endParaRPr sz="2000" u="sng">
              <a:solidFill>
                <a:schemeClr val="hlink"/>
              </a:solidFill>
            </a:endParaRPr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Contoh Kasus:</a:t>
            </a:r>
            <a:r>
              <a:rPr lang="en-US" sz="2000"/>
              <a:t> Masih dalam sistem perbankan, sebuah akun bank umum (</a:t>
            </a:r>
            <a:r>
              <a:rPr lang="en-US" sz="2000">
                <a:solidFill>
                  <a:srgbClr val="188038"/>
                </a:solidFill>
              </a:rPr>
              <a:t>AkunBank</a:t>
            </a:r>
            <a:r>
              <a:rPr lang="en-US" sz="2000"/>
              <a:t>) memiliki mekanisme dasar pengelolaan. Kita ingin membuat sub-class khusus seperti </a:t>
            </a:r>
            <a:r>
              <a:rPr lang="en-US" sz="2000">
                <a:solidFill>
                  <a:srgbClr val="188038"/>
                </a:solidFill>
              </a:rPr>
              <a:t>AkunGiro</a:t>
            </a:r>
            <a:r>
              <a:rPr lang="en-US" sz="2000"/>
              <a:t> atau </a:t>
            </a:r>
            <a:r>
              <a:rPr lang="en-US" sz="2000">
                <a:solidFill>
                  <a:srgbClr val="188038"/>
                </a:solidFill>
              </a:rPr>
              <a:t>AkunPremium</a:t>
            </a:r>
            <a:r>
              <a:rPr lang="en-US" sz="2000"/>
              <a:t> yang dapat mewarisi dan memodifikasi beberapa parameter internal tanpa membukanya secara bebas (</a:t>
            </a:r>
            <a:r>
              <a:rPr lang="en-US" sz="2000">
                <a:solidFill>
                  <a:srgbClr val="188038"/>
                </a:solidFill>
              </a:rPr>
              <a:t>public</a:t>
            </a:r>
            <a:r>
              <a:rPr lang="en-US" sz="2000"/>
              <a:t>) ke objek luar.</a:t>
            </a:r>
            <a:endParaRPr b="1" sz="2000"/>
          </a:p>
        </p:txBody>
      </p:sp>
      <p:pic>
        <p:nvPicPr>
          <p:cNvPr id="159" name="Google Shape;159;g409bacb8119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1875" y="1600225"/>
            <a:ext cx="6307726" cy="4023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409bacb8119_0_41"/>
          <p:cNvSpPr txBox="1"/>
          <p:nvPr>
            <p:ph type="title"/>
          </p:nvPr>
        </p:nvSpPr>
        <p:spPr>
          <a:xfrm>
            <a:off x="971551" y="517525"/>
            <a:ext cx="102300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 sz="3500"/>
              <a:t>Penerapan pada Sub-Class (Package Berbeda):</a:t>
            </a:r>
            <a:endParaRPr sz="3500"/>
          </a:p>
        </p:txBody>
      </p:sp>
      <p:pic>
        <p:nvPicPr>
          <p:cNvPr id="165" name="Google Shape;165;g409bacb8119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550" y="1589900"/>
            <a:ext cx="7500849" cy="494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Notasi UML Access Modifier</a:t>
            </a:r>
            <a:endParaRPr/>
          </a:p>
        </p:txBody>
      </p:sp>
      <p:sp>
        <p:nvSpPr>
          <p:cNvPr id="171" name="Google Shape;171;p9"/>
          <p:cNvSpPr txBox="1"/>
          <p:nvPr>
            <p:ph idx="1" type="body"/>
          </p:nvPr>
        </p:nvSpPr>
        <p:spPr>
          <a:xfrm>
            <a:off x="971551" y="1676400"/>
            <a:ext cx="1022985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 sz="2000"/>
              <a:t>Notasi UML pada penggambaran class diagram untuk access modifier adalah: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</a:pPr>
            <a:r>
              <a:rPr lang="en-US" sz="1800"/>
              <a:t>Tanda minus ( - ) untuk </a:t>
            </a:r>
            <a:r>
              <a:rPr i="1" lang="en-US" sz="1800"/>
              <a:t>private</a:t>
            </a:r>
            <a:endParaRPr sz="1800"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</a:pPr>
            <a:r>
              <a:rPr lang="en-US" sz="1800"/>
              <a:t>Tanda pagar ( # ) untuk </a:t>
            </a:r>
            <a:r>
              <a:rPr i="1" lang="en-US" sz="1800"/>
              <a:t>protected</a:t>
            </a:r>
            <a:endParaRPr sz="1800"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</a:pPr>
            <a:r>
              <a:rPr lang="en-US" sz="1800"/>
              <a:t>Tanda plus ( + ) untuk </a:t>
            </a:r>
            <a:r>
              <a:rPr i="1" lang="en-US" sz="1800"/>
              <a:t>public</a:t>
            </a:r>
            <a:endParaRPr sz="1800"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</a:pPr>
            <a:r>
              <a:rPr lang="en-US" sz="1800"/>
              <a:t>Tanda tilde ( ~ ) atau tanpa tanda untuk </a:t>
            </a:r>
            <a:r>
              <a:rPr i="1" lang="en-US" sz="1800"/>
              <a:t>default</a:t>
            </a:r>
            <a:r>
              <a:rPr lang="en-US" sz="1800"/>
              <a:t> </a:t>
            </a:r>
            <a:endParaRPr/>
          </a:p>
          <a:p>
            <a:pPr indent="-330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t/>
            </a:r>
            <a:endParaRPr sz="2000"/>
          </a:p>
        </p:txBody>
      </p:sp>
      <p:graphicFrame>
        <p:nvGraphicFramePr>
          <p:cNvPr id="172" name="Google Shape;172;p9"/>
          <p:cNvGraphicFramePr/>
          <p:nvPr/>
        </p:nvGraphicFramePr>
        <p:xfrm>
          <a:off x="2667000" y="385741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{44101F1B-8C12-46D6-8B15-184733483FE5}</a:tableStyleId>
              </a:tblPr>
              <a:tblGrid>
                <a:gridCol w="2362200"/>
              </a:tblGrid>
              <a:tr h="230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SpaceShuttle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1137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+ color: String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 speed: int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 orbitHeight: int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# fuelType: String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# engineType: String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nickName: String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946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+ start(): void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+ climb(): void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+ dive(): void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+ getSpeed(): int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+ getOrbitHeight(): int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Menerapkan Access Modifier</a:t>
            </a:r>
            <a:endParaRPr/>
          </a:p>
        </p:txBody>
      </p:sp>
      <p:graphicFrame>
        <p:nvGraphicFramePr>
          <p:cNvPr id="178" name="Google Shape;178;p10"/>
          <p:cNvGraphicFramePr/>
          <p:nvPr/>
        </p:nvGraphicFramePr>
        <p:xfrm>
          <a:off x="4724400" y="259080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{44101F1B-8C12-46D6-8B15-184733483FE5}</a:tableStyleId>
              </a:tblPr>
              <a:tblGrid>
                <a:gridCol w="2433650"/>
              </a:tblGrid>
              <a:tr h="249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Mobil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51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 kecepatan: int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 kontakOn: boolean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29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+ nyalakanMesin(): void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+ matikanMesin(): void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+ tambahKecepatan(): void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+ kurangiKecepatan(): void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+ tampilkanStatus(): void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4659" y="37640"/>
            <a:ext cx="6248400" cy="6820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Menerapkan Access Modifier</a:t>
            </a:r>
            <a:endParaRPr/>
          </a:p>
        </p:txBody>
      </p:sp>
      <p:pic>
        <p:nvPicPr>
          <p:cNvPr id="189" name="Google Shape;18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5625" y="2286000"/>
            <a:ext cx="3139441" cy="3335866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  <p:pic>
        <p:nvPicPr>
          <p:cNvPr id="190" name="Google Shape;19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6066" y="2286000"/>
            <a:ext cx="3401060" cy="270002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 txBox="1"/>
          <p:nvPr>
            <p:ph type="title"/>
          </p:nvPr>
        </p:nvSpPr>
        <p:spPr>
          <a:xfrm>
            <a:off x="971551" y="517525"/>
            <a:ext cx="102300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Menerapkan Access Modifier</a:t>
            </a:r>
            <a:endParaRPr/>
          </a:p>
        </p:txBody>
      </p:sp>
      <p:sp>
        <p:nvSpPr>
          <p:cNvPr id="196" name="Google Shape;196;p13"/>
          <p:cNvSpPr txBox="1"/>
          <p:nvPr>
            <p:ph idx="1" type="body"/>
          </p:nvPr>
        </p:nvSpPr>
        <p:spPr>
          <a:xfrm>
            <a:off x="971551" y="1676400"/>
            <a:ext cx="10230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Dapat kita amati sekarang atribut kecepatan tidak bisa seenaknya diganti.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Bahkan ketika mencoba menambah kecepatan saat posisi kontak masih OFF, maka akan muncul notifikasi bahwa mesin belum menyala.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Untuk mendapatkan kecepatan yang diinginkan, maka harus dilakukan secara gradual, yaitu dengan memanggil method tambahKecepatan() beberapa kali.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Hal ini mirip seperti saat kita mengendarai mobil di dunia nyata.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Getter – Setter Method</a:t>
            </a:r>
            <a:endParaRPr/>
          </a:p>
        </p:txBody>
      </p:sp>
      <p:sp>
        <p:nvSpPr>
          <p:cNvPr id="202" name="Google Shape;202;p14"/>
          <p:cNvSpPr txBox="1"/>
          <p:nvPr>
            <p:ph idx="1" type="body"/>
          </p:nvPr>
        </p:nvSpPr>
        <p:spPr>
          <a:xfrm>
            <a:off x="971551" y="1676400"/>
            <a:ext cx="1022985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Getter – Setter method adalah method yang disediakan untuk mengakses atribut yang diset </a:t>
            </a:r>
            <a:r>
              <a:rPr i="1" lang="en-US"/>
              <a:t>private</a:t>
            </a:r>
            <a:r>
              <a:rPr lang="en-US"/>
              <a:t>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Getter digunakan untuk membaca isi atribut, sedangkan Setter untuk mengeset isi atribut.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Dengan demikian kita bisa menentukan, apakah suatu atribut dapat dibaca saja, atau hanya diubah saja, atau dapat diubah maupun dibaca.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Menganalisa Skenario</a:t>
            </a:r>
            <a:endParaRPr/>
          </a:p>
        </p:txBody>
      </p:sp>
      <p:sp>
        <p:nvSpPr>
          <p:cNvPr id="208" name="Google Shape;208;p15"/>
          <p:cNvSpPr txBox="1"/>
          <p:nvPr>
            <p:ph idx="1" type="body"/>
          </p:nvPr>
        </p:nvSpPr>
        <p:spPr>
          <a:xfrm>
            <a:off x="971551" y="1676400"/>
            <a:ext cx="1022985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Misalkan di sebuah sistem informasi perbankan, terdapat class Nasabah.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Nasabah memiliki atribut nomor rekening, nama dan saldo, dan method setor() dan tarik().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Saldo pada nasabah tidak boleh diubah sembarangan, melainkan hanya dapat diubah melalui method setor() atau tarik().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Namun saldo boleh dibaca isi nominalnya.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Menerapkan Getter – Setter Method</a:t>
            </a:r>
            <a:endParaRPr/>
          </a:p>
        </p:txBody>
      </p:sp>
      <p:graphicFrame>
        <p:nvGraphicFramePr>
          <p:cNvPr id="214" name="Google Shape;214;p16"/>
          <p:cNvGraphicFramePr/>
          <p:nvPr/>
        </p:nvGraphicFramePr>
        <p:xfrm>
          <a:off x="3733800" y="259080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{44101F1B-8C12-46D6-8B15-184733483FE5}</a:tableStyleId>
              </a:tblPr>
              <a:tblGrid>
                <a:gridCol w="4450725"/>
              </a:tblGrid>
              <a:tr h="21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Nasabah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- nomorRekening: String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- nama: String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- saldo: int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setNomorRekening(norek: String): void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getNomorRekening(): String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setNama(nm: String): void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getNama(): String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getSaldo(): int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setor(nominal: int): void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tarik(nominal: int): void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17"/>
          <p:cNvPicPr preferRelativeResize="0"/>
          <p:nvPr/>
        </p:nvPicPr>
        <p:blipFill rotWithShape="1">
          <a:blip r:embed="rId3">
            <a:alphaModFix/>
          </a:blip>
          <a:srcRect b="1792" l="0" r="0" t="0"/>
          <a:stretch/>
        </p:blipFill>
        <p:spPr>
          <a:xfrm>
            <a:off x="2819400" y="1"/>
            <a:ext cx="6705600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Menerapkan Getter – Setter Method</a:t>
            </a:r>
            <a:endParaRPr/>
          </a:p>
        </p:txBody>
      </p:sp>
      <p:sp>
        <p:nvSpPr>
          <p:cNvPr id="225" name="Google Shape;225;p18"/>
          <p:cNvSpPr txBox="1"/>
          <p:nvPr>
            <p:ph idx="1" type="body"/>
          </p:nvPr>
        </p:nvSpPr>
        <p:spPr>
          <a:xfrm>
            <a:off x="971551" y="1676400"/>
            <a:ext cx="1022985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Jika diperhatikan class Nasabah diatas, atribut nomorRekening memiliki method setNomorRekening() dan getNomorRekening() sebagai getter-setter nya.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Atribut nama juga memiliki setNama() dan getNama().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Namun, atribut saldo HANYA  memiliki getSaldo() saja, karena seperti tujuan awal kita, atribut saldo tidak boleh diubah sembarangan, harus melalui method setor() dan tarik().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Menerapkan Getter – Setter Method</a:t>
            </a:r>
            <a:endParaRPr/>
          </a:p>
        </p:txBody>
      </p:sp>
      <p:pic>
        <p:nvPicPr>
          <p:cNvPr id="231" name="Google Shape;2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3912" y="1981200"/>
            <a:ext cx="7162800" cy="274320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  <p:pic>
        <p:nvPicPr>
          <p:cNvPr id="232" name="Google Shape;23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43912" y="4953000"/>
            <a:ext cx="3752088" cy="114300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Menerapkan Getter – Setter Method</a:t>
            </a:r>
            <a:endParaRPr/>
          </a:p>
        </p:txBody>
      </p:sp>
      <p:sp>
        <p:nvSpPr>
          <p:cNvPr id="238" name="Google Shape;238;p20"/>
          <p:cNvSpPr txBox="1"/>
          <p:nvPr>
            <p:ph idx="1" type="body"/>
          </p:nvPr>
        </p:nvSpPr>
        <p:spPr>
          <a:xfrm>
            <a:off x="971551" y="1676400"/>
            <a:ext cx="1022985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Dapat dilihat pada hasil percobaan diatas: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Untuk mengubah saldo tidak dilakukan secara langsung dengan mengubah atribut saldo, melainkan melalui method setor() dan tarik(). 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Untuk menampilkan nama pun harus melalui method getNama(), dan untuk menampilkan saldo melalui getSaldo().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Konstruktor</a:t>
            </a:r>
            <a:endParaRPr/>
          </a:p>
        </p:txBody>
      </p:sp>
      <p:sp>
        <p:nvSpPr>
          <p:cNvPr id="244" name="Google Shape;244;p21"/>
          <p:cNvSpPr txBox="1"/>
          <p:nvPr>
            <p:ph idx="1" type="body"/>
          </p:nvPr>
        </p:nvSpPr>
        <p:spPr>
          <a:xfrm>
            <a:off x="971551" y="1676400"/>
            <a:ext cx="1022985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Konstruktor adalah method yang secara otomatis dieksekusi pertama kali ketika kita membuat object.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Secara default, java secara otomatis memberikan konstruktor pada tiap class.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Hal ini dibuktikan pada saat kita membuat objek baru dari sebuah class, maka akan diikuti dengan pemanggilan konstruktornya.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Misal, membuat objek porsche dari class Mobil:</a:t>
            </a:r>
            <a:endParaRPr/>
          </a:p>
          <a:p>
            <a:pPr indent="-29273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t/>
            </a:r>
            <a:endParaRPr/>
          </a:p>
          <a:p>
            <a:pPr indent="-29273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t/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Perhatikan kode </a:t>
            </a:r>
            <a:r>
              <a:rPr b="1" lang="en-US"/>
              <a:t>new Mobil()</a:t>
            </a:r>
            <a:r>
              <a:rPr lang="en-US"/>
              <a:t>, artinya adalah memanggil konstruktor dari class Mobil.</a:t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3733801" y="4419600"/>
            <a:ext cx="4044697" cy="388696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Mobil porsche = new Mobil();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Aturan dalam Membuat Konstruktor</a:t>
            </a:r>
            <a:endParaRPr/>
          </a:p>
        </p:txBody>
      </p:sp>
      <p:sp>
        <p:nvSpPr>
          <p:cNvPr id="251" name="Google Shape;251;p22"/>
          <p:cNvSpPr txBox="1"/>
          <p:nvPr>
            <p:ph idx="1" type="body"/>
          </p:nvPr>
        </p:nvSpPr>
        <p:spPr>
          <a:xfrm>
            <a:off x="971551" y="1676400"/>
            <a:ext cx="1022985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o"/>
            </a:pPr>
            <a:r>
              <a:rPr lang="en-US" sz="2000"/>
              <a:t>Konstruktor harus memiliki nama yang sama dengan nama class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o"/>
            </a:pPr>
            <a:r>
              <a:rPr lang="en-US" sz="2000"/>
              <a:t>Access modifier-nya harus public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o"/>
            </a:pPr>
            <a:r>
              <a:rPr lang="en-US" sz="2000"/>
              <a:t>Tidak boleh memiliki tipe data return.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 sz="2000"/>
              <a:t>Contoh penggunaan konstruktor adalah, saat kita ingin memberikan nilai default pada atribut class.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 sz="2000"/>
              <a:t>Cara mendeklarasikan konstruktor adalah sebagai berikut:</a:t>
            </a:r>
            <a:endParaRPr/>
          </a:p>
          <a:p>
            <a:pPr indent="-330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252" name="Google Shape;252;p22"/>
          <p:cNvSpPr/>
          <p:nvPr/>
        </p:nvSpPr>
        <p:spPr>
          <a:xfrm>
            <a:off x="3733800" y="4648200"/>
            <a:ext cx="4572000" cy="1277786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public &lt;NamaKonstruktor&gt;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// do something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Contoh Konstruktor</a:t>
            </a:r>
            <a:endParaRPr/>
          </a:p>
        </p:txBody>
      </p:sp>
      <p:sp>
        <p:nvSpPr>
          <p:cNvPr id="258" name="Google Shape;258;p23"/>
          <p:cNvSpPr txBox="1"/>
          <p:nvPr>
            <p:ph idx="1" type="body"/>
          </p:nvPr>
        </p:nvSpPr>
        <p:spPr>
          <a:xfrm>
            <a:off x="971551" y="1676400"/>
            <a:ext cx="1022985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-US" sz="2400"/>
              <a:t>Misalkan pada class Mobil: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o"/>
            </a:pPr>
            <a:r>
              <a:rPr lang="en-US" sz="2000"/>
              <a:t>Memiliki atribut warna dan jumlahRoda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o"/>
            </a:pPr>
            <a:r>
              <a:rPr lang="en-US" sz="2000"/>
              <a:t>Kita ingin agar ketika dibuat objeknya, maka warna-nya langsung terisi “Putih” dan jumlah roda-nya “4”.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259" name="Google Shape;259;p23"/>
          <p:cNvPicPr preferRelativeResize="0"/>
          <p:nvPr/>
        </p:nvPicPr>
        <p:blipFill rotWithShape="1">
          <a:blip r:embed="rId3">
            <a:alphaModFix/>
          </a:blip>
          <a:srcRect b="0" l="0" r="24138" t="0"/>
          <a:stretch/>
        </p:blipFill>
        <p:spPr>
          <a:xfrm>
            <a:off x="1143000" y="3429000"/>
            <a:ext cx="2514600" cy="1804826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  <p:pic>
        <p:nvPicPr>
          <p:cNvPr id="260" name="Google Shape;26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6200" y="3442115"/>
            <a:ext cx="5495925" cy="1655915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  <p:pic>
        <p:nvPicPr>
          <p:cNvPr id="261" name="Google Shape;26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5415" y="5489337"/>
            <a:ext cx="3979213" cy="687626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  <p:sp>
        <p:nvSpPr>
          <p:cNvPr id="262" name="Google Shape;262;p23"/>
          <p:cNvSpPr/>
          <p:nvPr/>
        </p:nvSpPr>
        <p:spPr>
          <a:xfrm>
            <a:off x="5429942" y="5283915"/>
            <a:ext cx="1752600" cy="893048"/>
          </a:xfrm>
          <a:prstGeom prst="wedgeRectCallout">
            <a:avLst>
              <a:gd fmla="val -177745" name="adj1"/>
              <a:gd fmla="val -110552" name="adj2"/>
            </a:avLst>
          </a:prstGeom>
          <a:solidFill>
            <a:srgbClr val="FF9715"/>
          </a:solidFill>
          <a:ln cap="flat" cmpd="sng" w="12700">
            <a:solidFill>
              <a:srgbClr val="7F6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Mengeset atribut warna dan jumlahRoda di dalam konstruktor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3124200" y="6012976"/>
            <a:ext cx="2143085" cy="583485"/>
          </a:xfrm>
          <a:prstGeom prst="wedgeRectCallout">
            <a:avLst>
              <a:gd fmla="val -64059" name="adj1"/>
              <a:gd fmla="val -60826" name="adj2"/>
            </a:avLst>
          </a:prstGeom>
          <a:solidFill>
            <a:srgbClr val="FF9715"/>
          </a:solidFill>
          <a:ln cap="flat" cmpd="sng" w="12700">
            <a:solidFill>
              <a:srgbClr val="7F6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Atribut warna dan jumlahRoda otomatis terisi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Menganalisa Skenario</a:t>
            </a:r>
            <a:endParaRPr/>
          </a:p>
        </p:txBody>
      </p:sp>
      <p:sp>
        <p:nvSpPr>
          <p:cNvPr id="269" name="Google Shape;269;p24"/>
          <p:cNvSpPr txBox="1"/>
          <p:nvPr>
            <p:ph idx="1" type="body"/>
          </p:nvPr>
        </p:nvSpPr>
        <p:spPr>
          <a:xfrm>
            <a:off x="971551" y="1676400"/>
            <a:ext cx="1022985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Misal pada sistem perbankan kita tadi, class Nasabah pada saat pertama kali dibuat objek nya, maka nilai default dari atribut: 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nomorRekening = “000000”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nama = “NO NAME”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saldo = 50000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Bagaimana agar atribut-atribut tersebut terisi nilai defaultnya secara otomatis saat membuat objek?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Menerapkan Konstruktor</a:t>
            </a:r>
            <a:endParaRPr/>
          </a:p>
        </p:txBody>
      </p:sp>
      <p:graphicFrame>
        <p:nvGraphicFramePr>
          <p:cNvPr id="275" name="Google Shape;275;p25"/>
          <p:cNvGraphicFramePr/>
          <p:nvPr/>
        </p:nvGraphicFramePr>
        <p:xfrm>
          <a:off x="3581401" y="251460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{44101F1B-8C12-46D6-8B15-184733483FE5}</a:tableStyleId>
              </a:tblPr>
              <a:tblGrid>
                <a:gridCol w="4831725"/>
              </a:tblGrid>
              <a:tr h="21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Nasabah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- nomorRekening: int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- nama: String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- saldo: int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Nasabah()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setNomorRekening(norek: String): void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getNomorRekening(): String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setNama(nm: String): void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getNama(): String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getSaldo(): int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setor(nominal: int): void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tarik(nominal: int): void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276" name="Google Shape;276;p25"/>
          <p:cNvSpPr/>
          <p:nvPr/>
        </p:nvSpPr>
        <p:spPr>
          <a:xfrm>
            <a:off x="3163570" y="3581400"/>
            <a:ext cx="5828030" cy="2286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FF0000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8686800" y="2007605"/>
            <a:ext cx="2143085" cy="583485"/>
          </a:xfrm>
          <a:prstGeom prst="wedgeRectCallout">
            <a:avLst>
              <a:gd fmla="val -233498" name="adj1"/>
              <a:gd fmla="val 228491" name="adj2"/>
            </a:avLst>
          </a:prstGeom>
          <a:solidFill>
            <a:srgbClr val="FF9715"/>
          </a:solidFill>
          <a:ln cap="flat" cmpd="sng" w="12700">
            <a:solidFill>
              <a:srgbClr val="7F600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Kita tambahkan konstruktor Nasabah()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0438" y="123825"/>
            <a:ext cx="5262563" cy="6701319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Menerapkan Konstruktor</a:t>
            </a:r>
            <a:endParaRPr/>
          </a:p>
        </p:txBody>
      </p:sp>
      <p:pic>
        <p:nvPicPr>
          <p:cNvPr id="288" name="Google Shape;2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6960" y="2057400"/>
            <a:ext cx="6965278" cy="228600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  <p:pic>
        <p:nvPicPr>
          <p:cNvPr id="289" name="Google Shape;28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46961" y="4663440"/>
            <a:ext cx="4222909" cy="1432561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Menerapkan Konstruktor</a:t>
            </a:r>
            <a:endParaRPr/>
          </a:p>
        </p:txBody>
      </p:sp>
      <p:sp>
        <p:nvSpPr>
          <p:cNvPr id="295" name="Google Shape;295;p28"/>
          <p:cNvSpPr txBox="1"/>
          <p:nvPr>
            <p:ph idx="1" type="body"/>
          </p:nvPr>
        </p:nvSpPr>
        <p:spPr>
          <a:xfrm>
            <a:off x="971551" y="1676400"/>
            <a:ext cx="1022985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Amati class TestNasabah diatas.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Pertama-tama kita membuat objek nas dari class Nasabah.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Kemudian langsung kita cetak ke layar isi dari atribut-atributnya dengan menggunakan getter methodnya, yaitu getNomorRekening(), getNama() dan getSaldo().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Dapat kita lihat bahwa atribut nomor rekening secara otomatis terisi dengan nilai “000000”, atribut nama “NO NAME” dan saldo = 50000.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Konstruktor Yang Menerima Parameter</a:t>
            </a:r>
            <a:endParaRPr/>
          </a:p>
        </p:txBody>
      </p:sp>
      <p:sp>
        <p:nvSpPr>
          <p:cNvPr id="301" name="Google Shape;301;p29"/>
          <p:cNvSpPr txBox="1"/>
          <p:nvPr>
            <p:ph idx="1" type="body"/>
          </p:nvPr>
        </p:nvSpPr>
        <p:spPr>
          <a:xfrm>
            <a:off x="971551" y="1676400"/>
            <a:ext cx="1022985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Seperti halnya method biasa, konstruktor juga dapat menerima parameter.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Jika konstruktor menerima parameter, maka pada saat pembuatan object, parameter tersebut juga harus diberi nilai dengan passing parameter.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Contoh:</a:t>
            </a:r>
            <a:endParaRPr/>
          </a:p>
          <a:p>
            <a:pPr indent="-29273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t/>
            </a:r>
            <a:endParaRPr/>
          </a:p>
          <a:p>
            <a:pPr indent="-29273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None/>
            </a:pPr>
            <a:r>
              <a:t/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Konstruktor semacam ini biasanya digunakan jika ada suatu kasus dimana pembuatan objek harus disertai dengan pengesetan nilai awal dari beberapa atributnya.</a:t>
            </a:r>
            <a:endParaRPr/>
          </a:p>
        </p:txBody>
      </p:sp>
      <p:sp>
        <p:nvSpPr>
          <p:cNvPr id="302" name="Google Shape;302;p29"/>
          <p:cNvSpPr/>
          <p:nvPr/>
        </p:nvSpPr>
        <p:spPr>
          <a:xfrm>
            <a:off x="2438401" y="4249156"/>
            <a:ext cx="7353301" cy="322845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Mahasiswa mhs = new Mahasiswa(“114003005”, “Edna”, 19, “Malang”);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Menganalisa Skenario</a:t>
            </a:r>
            <a:endParaRPr/>
          </a:p>
        </p:txBody>
      </p:sp>
      <p:sp>
        <p:nvSpPr>
          <p:cNvPr id="308" name="Google Shape;308;p30"/>
          <p:cNvSpPr txBox="1"/>
          <p:nvPr>
            <p:ph idx="1" type="body"/>
          </p:nvPr>
        </p:nvSpPr>
        <p:spPr>
          <a:xfrm>
            <a:off x="971551" y="1676400"/>
            <a:ext cx="1022985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Misal pada saat pembuatan objek dari class Nasabah, harus langsung diisikan atribut nama, nomor rekening dan saldonya.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Bagaimana caranya agar dapat mengisikan atribut-atribut tersebut langsung melalui konstruktornya?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ckwell"/>
              <a:buNone/>
            </a:pPr>
            <a:r>
              <a:rPr lang="en-US"/>
              <a:t>Menerapkan Konstruktor yang Menerima Parameter</a:t>
            </a:r>
            <a:endParaRPr/>
          </a:p>
        </p:txBody>
      </p:sp>
      <p:graphicFrame>
        <p:nvGraphicFramePr>
          <p:cNvPr id="314" name="Google Shape;314;p31"/>
          <p:cNvGraphicFramePr/>
          <p:nvPr/>
        </p:nvGraphicFramePr>
        <p:xfrm>
          <a:off x="3136265" y="243840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{44101F1B-8C12-46D6-8B15-184733483FE5}</a:tableStyleId>
              </a:tblPr>
              <a:tblGrid>
                <a:gridCol w="5965200"/>
              </a:tblGrid>
              <a:tr h="21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Nasabah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- nomorRekening: int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- nama: String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- saldo: int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Nasabah(norekAwal: String, namaAwal: String, saldoAwal: int)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setNomorRekening(norek: String): void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getNomorRekening(): String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setNama(nm: String): void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getNama(): String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getSaldo(): int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setor(nominal: int): void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+ tarik(nominal: int): void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315" name="Google Shape;315;p31"/>
          <p:cNvSpPr/>
          <p:nvPr/>
        </p:nvSpPr>
        <p:spPr>
          <a:xfrm>
            <a:off x="2743200" y="3505200"/>
            <a:ext cx="6778752" cy="249936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FF0000"/>
            </a:solidFill>
            <a:prstDash val="dash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7158" y="0"/>
            <a:ext cx="5757685" cy="685800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ockwell"/>
              <a:buNone/>
            </a:pPr>
            <a:r>
              <a:rPr lang="en-US"/>
              <a:t>Menerapkan Konstruktor yang Menerima Parameter</a:t>
            </a:r>
            <a:endParaRPr/>
          </a:p>
        </p:txBody>
      </p:sp>
      <p:pic>
        <p:nvPicPr>
          <p:cNvPr id="326" name="Google Shape;32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1" y="1905000"/>
            <a:ext cx="7485039" cy="243840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  <p:pic>
        <p:nvPicPr>
          <p:cNvPr id="327" name="Google Shape;32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46960" y="4511040"/>
            <a:ext cx="3786219" cy="1432561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4"/>
          <p:cNvSpPr txBox="1"/>
          <p:nvPr>
            <p:ph type="title"/>
          </p:nvPr>
        </p:nvSpPr>
        <p:spPr>
          <a:xfrm>
            <a:off x="971551" y="517525"/>
            <a:ext cx="1022985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ckwell"/>
              <a:buNone/>
            </a:pPr>
            <a:r>
              <a:rPr lang="en-US"/>
              <a:t>Pertanyaan</a:t>
            </a:r>
            <a:endParaRPr/>
          </a:p>
        </p:txBody>
      </p:sp>
      <p:sp>
        <p:nvSpPr>
          <p:cNvPr id="333" name="Google Shape;333;p34"/>
          <p:cNvSpPr txBox="1"/>
          <p:nvPr>
            <p:ph idx="1" type="body"/>
          </p:nvPr>
        </p:nvSpPr>
        <p:spPr>
          <a:xfrm>
            <a:off x="971551" y="1676400"/>
            <a:ext cx="1022985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Apa tujuan utama penggunaan enkapsulasi?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Berikan contoh kasus sebuah objek di dunia nyata dimana kita harus menerapkan konsep enkapsulasi antara lain: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Menggunakan access modifier private pada atribut-atributnya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Menggunakan method khusus untuk mengubah nilai atribut-atributnya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en-US"/>
              <a:t>Berikan contoh kasus sebuah objek di dunia nyata dimana kita harus membuat konstruktor pada sebuah class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 1 - Konsep Penelitia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Rismanto</dc:creator>
</cp:coreProperties>
</file>